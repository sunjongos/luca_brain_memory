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86" r:id="rId2"/>
    <p:sldId id="287" r:id="rId3"/>
    <p:sldId id="288" r:id="rId4"/>
    <p:sldId id="289" r:id="rId5"/>
    <p:sldId id="282" r:id="rId6"/>
    <p:sldId id="290" r:id="rId7"/>
    <p:sldId id="294" r:id="rId8"/>
    <p:sldId id="292" r:id="rId9"/>
    <p:sldId id="293" r:id="rId10"/>
    <p:sldId id="28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41" d="100"/>
          <a:sy n="141" d="100"/>
        </p:scale>
        <p:origin x="96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C01B2A-B1F4-47A1-BD96-759407C6A2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B856A7C-2DE9-0A45-9128-782E9DF892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EF312C-951B-16D8-129F-3B0AF956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4BA3A-20E9-4586-9F06-6E994083AE05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9B835D-348D-9132-62A9-73AA29198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312918-5402-8D41-3EB3-B917FC770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1FCAA-1541-4B86-9436-F742816C9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240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A57DC7-A4C1-A91C-6597-745DA1420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D1B893-2AAF-A0C2-D808-1B0FE326B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8B5A42-D30E-DB3E-69BA-6E6E3D17D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4BA3A-20E9-4586-9F06-6E994083AE05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70BF92-B655-429E-2392-1A0C9CD31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8A76B9-FCA4-652E-18CE-BD8E8D428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1FCAA-1541-4B86-9436-F742816C9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451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FE3C82-E744-2AA8-30A8-A7D81B51B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CEAF73-11CC-6B1D-8D78-7F9C67935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F847E3-7981-E79C-B259-4D5396569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4BA3A-20E9-4586-9F06-6E994083AE05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2D6520-5E59-7C76-0369-B818BEE74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B3399D-1887-2894-7632-043728BBB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1FCAA-1541-4B86-9436-F742816C9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6706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CF7470-582E-A4FB-DBF3-F44D0F949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05D5EA-C64F-4442-59FC-C9FBE95F3F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6310B14-A602-1029-8A80-A07C284FB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7E8593-AB69-BCCC-9AB7-75F1689AC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4BA3A-20E9-4586-9F06-6E994083AE05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66344A-0F10-3EE2-CC38-BFEB5C694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AEA041-213D-EDA7-A0C5-C9EE126E4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1FCAA-1541-4B86-9436-F742816C9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9954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A1CF76-3D81-45CD-D737-B1387FFCC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4EB977-399F-F985-0959-7D0FE63AF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EC324A-824A-0DB4-B52D-FEC365B6F0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6816A76-B418-E8BD-21E2-AAF8C1C0C2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9265C9F-3646-BFE2-DA77-8027257C8B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A885BB7-020B-83D8-D190-0CC283347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4BA3A-20E9-4586-9F06-6E994083AE05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F43ADC7-D32B-9370-E89E-DF185E5B5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4482335-55F1-3537-4796-46A955714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1FCAA-1541-4B86-9436-F742816C9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3411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D978E4-86F6-B459-988A-B6A023CF1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AA79BF7-A2AF-41A7-E0DB-C0A11CEC2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4BA3A-20E9-4586-9F06-6E994083AE05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631FCE5-AA3D-5662-C2E4-877B903BD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94E0492-AFA9-2310-B6F6-B2F566F93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1FCAA-1541-4B86-9436-F742816C9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3623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E82D11C-9C8B-FF88-FAD3-736752366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4BA3A-20E9-4586-9F06-6E994083AE05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10470C1-59DF-3869-24FC-95878A17B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EFBE2B-D600-5A5C-75C4-2236B0ECD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1FCAA-1541-4B86-9436-F742816C9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1517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E39DF4-5C75-9BD6-DB64-14A687FDD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A30E1B-2BD0-5F66-C4A3-708F609F2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52ADB3-B367-BBFD-5D9C-3D5BCCBD28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903F82-0FD6-B6DA-303C-A9629D7AA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4BA3A-20E9-4586-9F06-6E994083AE05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2928FE-44F2-2AFE-8C56-D886770F1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BFCE0D-F1E7-4358-5CBD-53E8921B1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1FCAA-1541-4B86-9436-F742816C9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7106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5EF477-2025-1011-8B43-0D6D987CB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D593620-EB89-E061-3C57-77C8B85D20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036B7EB-912B-4F49-7272-680CE8D4E6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2F0DC7-B5F6-9DEB-98EC-0E80596ED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4BA3A-20E9-4586-9F06-6E994083AE05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A21BCED-54A7-167A-1756-08AC5C538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17B8BF-DB0B-2E93-C2C5-B983AEB3E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1FCAA-1541-4B86-9436-F742816C9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1835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65E03C-8EE8-5FB3-8CBE-272DCD25C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856F0E5-0BD4-2102-2112-5ACD26C536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1B1572-9B65-D838-56BD-5D53F9B2E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4BA3A-20E9-4586-9F06-6E994083AE05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71F411-426B-0E10-8525-B4D9DF7AA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12FE82-4A4E-B300-E170-ECC8ED667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1FCAA-1541-4B86-9436-F742816C9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9874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A642A93-606C-40AE-EE9A-A15213942F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52D7E17-19AC-4A3F-914F-DCC4243700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93BA2F-2F00-7655-1C62-9D12BCF5D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4BA3A-20E9-4586-9F06-6E994083AE05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02EBA5-385E-BBEC-F038-5D34772C8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F55BAB-89C4-BD6D-C9BA-85DE173E2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1FCAA-1541-4B86-9436-F742816C9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336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5C0985B-3C9C-FFC3-62B2-3793211FD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2279AF-CA17-3283-12EB-B855148ACD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A43135-3686-F3A2-324B-F755C2A449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D4BA3A-20E9-4586-9F06-6E994083AE05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3AC50C-F867-4CDC-FAE0-A3979B52CD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49AC44-7B64-EF5D-5D42-20EDCCB1D6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E1FCAA-1541-4B86-9436-F742816C91D6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BottomBar"/>
          <p:cNvSpPr/>
          <p:nvPr userDrawn="1"/>
        </p:nvSpPr>
        <p:spPr>
          <a:xfrm>
            <a:off x="0" y="6492960"/>
            <a:ext cx="12192000" cy="152400"/>
          </a:xfrm>
          <a:prstGeom prst="rect">
            <a:avLst/>
          </a:prstGeom>
          <a:gradFill>
            <a:gsLst>
              <a:gs pos="0">
                <a:srgbClr val="2E6DAF"/>
              </a:gs>
              <a:gs pos="60000">
                <a:srgbClr val="48A9A6"/>
              </a:gs>
              <a:gs pos="100000">
                <a:srgbClr val="5B8BD4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TopStrip"/>
          <p:cNvSpPr/>
          <p:nvPr userDrawn="1"/>
        </p:nvSpPr>
        <p:spPr>
          <a:xfrm>
            <a:off x="0" y="0"/>
            <a:ext cx="685800" cy="914400"/>
          </a:xfrm>
          <a:prstGeom prst="rect">
            <a:avLst/>
          </a:prstGeom>
          <a:solidFill>
            <a:srgbClr val="2E6DA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" name="BottomBar"/>
          <p:cNvSpPr>
            <a:spLocks noGrp="1"/>
          </p:cNvSpPr>
          <p:nvPr userDrawn="1"/>
        </p:nvSpPr>
        <p:spPr>
          <a:xfrm>
            <a:off x="0" y="6630000"/>
            <a:ext cx="9144000" cy="228000"/>
          </a:xfrm>
          <a:prstGeom prst="rect">
            <a:avLst/>
          </a:prstGeom>
          <a:gradFill>
            <a:gsLst>
              <a:gs pos="0">
                <a:srgbClr val="2E6DAF"/>
              </a:gs>
              <a:gs pos="50000">
                <a:srgbClr val="48A9A6"/>
              </a:gs>
              <a:gs pos="100000">
                <a:srgbClr val="5B8BD4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LeftStrip"/>
          <p:cNvSpPr>
            <a:spLocks noGrp="1"/>
          </p:cNvSpPr>
          <p:nvPr userDrawn="1"/>
        </p:nvSpPr>
        <p:spPr>
          <a:xfrm>
            <a:off x="0" y="0"/>
            <a:ext cx="304800" cy="6630000"/>
          </a:xfrm>
          <a:prstGeom prst="rect">
            <a:avLst/>
          </a:prstGeom>
          <a:gradFill>
            <a:gsLst>
              <a:gs pos="0">
                <a:srgbClr val="2E6DAF"/>
              </a:gs>
              <a:gs pos="100000">
                <a:srgbClr val="48A9A6"/>
              </a:gs>
            </a:gsLst>
            <a:lin ang="5400000" scaled="1"/>
          </a:gradFill>
          <a:ln w="0"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62701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rgbClr val="1B2A4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B2A4A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B2A4A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B2A4A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B2A4A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B2A4A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B2A4A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B2A4A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B2A4A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B2A4A"/>
          </a:solidFill>
          <a:latin typeface="+mn-lt"/>
          <a:ea typeface="+mn-ea"/>
          <a:cs typeface="+mn-cs"/>
        </a:defRPr>
      </a:lvl9pPr>
    </p:bodyStyle>
    <p:otherStyle>
      <a:defPPr>
        <a:defRPr lang="ko-KR">
          <a:solidFill>
            <a:srgbClr val="1B2A4A"/>
          </a:solidFill>
        </a:defRPr>
      </a:defPPr>
      <a:lvl1pPr marL="0" algn="l" defTabSz="914400" rtl="0" eaLnBrk="1" latinLnBrk="1" hangingPunct="1">
        <a:defRPr sz="1800" kern="1200">
          <a:solidFill>
            <a:srgbClr val="1B2A4A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rgbClr val="1B2A4A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rgbClr val="1B2A4A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rgbClr val="1B2A4A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rgbClr val="1B2A4A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rgbClr val="1B2A4A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rgbClr val="1B2A4A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rgbClr val="1B2A4A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rgbClr val="1B2A4A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4DD222A-3704-4441-81CD-5BCD2BAEF90E}"/>
              </a:ext>
            </a:extLst>
          </p:cNvPr>
          <p:cNvSpPr txBox="1"/>
          <p:nvPr/>
        </p:nvSpPr>
        <p:spPr>
          <a:xfrm>
            <a:off x="6350000" y="762000"/>
            <a:ext cx="5588000" cy="533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6000" b="1">
                <a:solidFill>
                  <a:srgbClr val="2C4470"/>
                </a:solidFill>
              </a:rPr>
              <a:t>NDB</a:t>
            </a:r>
            <a:endParaRPr lang="ko-KR" altLang="en-US" sz="16000" b="1">
              <a:solidFill>
                <a:srgbClr val="2C4470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6D71FF1-D532-B65E-B903-3BF243C4E0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5000" y="1651000"/>
            <a:ext cx="9652000" cy="2540000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ko-KR" altLang="en-US" sz="3400" b="1">
                <a:solidFill>
                  <a:srgbClr val="FFFFFF"/>
                </a:solidFill>
              </a:rPr>
              <a:t>남양주백병원 </a:t>
            </a:r>
            <a:r>
              <a:rPr lang="en-US" altLang="ko-KR" sz="3400" b="1">
                <a:solidFill>
                  <a:srgbClr val="FFFFFF"/>
                </a:solidFill>
              </a:rPr>
              <a:t>AI</a:t>
            </a:r>
            <a:r>
              <a:rPr lang="ko-KR" altLang="en-US" sz="3400" b="1">
                <a:solidFill>
                  <a:srgbClr val="FFFFFF"/>
                </a:solidFill>
              </a:rPr>
              <a:t>비서 </a:t>
            </a:r>
            <a:r>
              <a:rPr lang="en-US" altLang="ko-KR" sz="3400" b="1">
                <a:solidFill>
                  <a:srgbClr val="FFFFFF"/>
                </a:solidFill>
              </a:rPr>
              <a:t>NDB
</a:t>
            </a:r>
            <a:r>
              <a:rPr lang="ko-KR" altLang="en-US" sz="3400" b="1">
                <a:solidFill>
                  <a:srgbClr val="FFFFFF"/>
                </a:solidFill>
              </a:rPr>
              <a:t>활용 교육</a:t>
            </a:r>
            <a:endParaRPr lang="ko-KR" sz="3400" b="1" dirty="0">
              <a:solidFill>
                <a:srgbClr val="FFFFFF"/>
              </a:solidFill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DEC8444-D0A1-B690-40E1-86A1A1116B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5000" y="4445000"/>
            <a:ext cx="9144000" cy="1524000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ko-KR" altLang="en-US" sz="1800">
                <a:solidFill>
                  <a:srgbClr val="B8D4F5"/>
                </a:solidFill>
              </a:rPr>
              <a:t>🚀 자동화로 퇴근 시간을 앞당기자</a:t>
            </a:r>
            <a:r>
              <a:rPr lang="en-US" altLang="ko-KR" sz="1800">
                <a:solidFill>
                  <a:srgbClr val="B8D4F5"/>
                </a:solidFill>
              </a:rPr>
              <a:t>!
</a:t>
            </a:r>
            <a:r>
              <a:rPr lang="ko-KR" altLang="en-US" sz="1800">
                <a:solidFill>
                  <a:srgbClr val="B8D4F5"/>
                </a:solidFill>
              </a:rPr>
              <a:t>발표자</a:t>
            </a:r>
            <a:r>
              <a:rPr lang="en-US" altLang="ko-KR" sz="1800">
                <a:solidFill>
                  <a:srgbClr val="B8D4F5"/>
                </a:solidFill>
              </a:rPr>
              <a:t>: (</a:t>
            </a:r>
            <a:r>
              <a:rPr lang="ko-KR" altLang="en-US" sz="1800">
                <a:solidFill>
                  <a:srgbClr val="B8D4F5"/>
                </a:solidFill>
              </a:rPr>
              <a:t>발표자 성함을 입력해주세요</a:t>
            </a:r>
            <a:r>
              <a:rPr lang="en-US" altLang="ko-KR" sz="1800">
                <a:solidFill>
                  <a:srgbClr val="B8D4F5"/>
                </a:solidFill>
              </a:rPr>
              <a:t>)</a:t>
            </a:r>
            <a:endParaRPr lang="ko-KR" sz="1800" dirty="0">
              <a:solidFill>
                <a:srgbClr val="B8D4F5"/>
              </a:solidFill>
            </a:endParaRPr>
          </a:p>
        </p:txBody>
      </p:sp>
      <p:pic>
        <p:nvPicPr>
          <p:cNvPr id="4" name="Graphic 4" descr="AI Robot ic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41100" y="1270000"/>
            <a:ext cx="698500" cy="698500"/>
          </a:xfrm>
          <a:prstGeom prst="rect">
            <a:avLst/>
          </a:prstGeom>
        </p:spPr>
      </p:pic>
      <p:pic>
        <p:nvPicPr>
          <p:cNvPr id="5" name="Graphic 5" descr="Stars decoration on title slide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41100" y="2222500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260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291A05-24F6-89AA-F41E-8AD34D4E0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254000"/>
            <a:ext cx="9906000" cy="1270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ko-KR" sz="2800" b="1" dirty="0"/>
              <a:t>AI 비서, 왜 필요한가요?</a:t>
            </a:r>
          </a:p>
        </p:txBody>
      </p:sp>
      <p:pic>
        <p:nvPicPr>
          <p:cNvPr id="4" name="Graphic 4" descr="Chat bubble for Why NDB slid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76000" y="355600"/>
            <a:ext cx="609600" cy="609600"/>
          </a:xfrm>
          <a:prstGeom prst="rect">
            <a:avLst/>
          </a:prstGeom>
        </p:spPr>
      </p:pic>
      <p:sp>
        <p:nvSpPr>
          <p:cNvPr id="25" name="Sub25"/>
          <p:cNvSpPr/>
          <p:nvPr/>
        </p:nvSpPr>
        <p:spPr>
          <a:xfrm>
            <a:off x="380000" y="1460500"/>
            <a:ext cx="8382000" cy="508000"/>
          </a:xfrm>
          <a:prstGeom prst="rect">
            <a:avLst/>
          </a:prstGeom>
          <a:noFill/>
        </p:spPr>
        <p:txBody>
          <a:bodyPr/>
          <a:lstStyle/>
          <a:p>
            <a:pPr algn="ctr">
              <a:buNone/>
            </a:pPr>
            <a:r>
              <a:rPr lang="ko-KR" sz="1500" dirty="0">
                <a:solidFill>
                  <a:srgbClr val="5B8BD4"/>
                </a:solidFill>
              </a:rPr>
              <a:t>AI 비서 하나로 병원 업무의 3가지 핵심 고민을 해결합니다</a:t>
            </a:r>
          </a:p>
        </p:txBody>
      </p:sp>
      <p:sp>
        <p:nvSpPr>
          <p:cNvPr id="20" name="Card20"/>
          <p:cNvSpPr/>
          <p:nvPr/>
        </p:nvSpPr>
        <p:spPr>
          <a:xfrm>
            <a:off x="380000" y="2032000"/>
            <a:ext cx="2600000" cy="4318000"/>
          </a:xfrm>
          <a:prstGeom prst="roundRect">
            <a:avLst>
              <a:gd name="adj" fmla="val 30000"/>
            </a:avLst>
          </a:prstGeom>
          <a:solidFill>
            <a:srgbClr val="EEF4FF"/>
          </a:solidFill>
          <a:ln w="19050">
            <a:solidFill>
              <a:srgbClr val="D0DCF0"/>
            </a:solidFill>
          </a:ln>
        </p:spPr>
        <p:txBody>
          <a:bodyPr vert="horz" wrap="square" lIns="182880" tIns="182880" rIns="182880" bIns="182880" anchor="t"/>
          <a:lstStyle/>
          <a:p>
            <a:pPr algn="ctr">
              <a:buNone/>
            </a:pPr>
            <a:r>
              <a:rPr lang="ko-KR" sz="3200" dirty="0"/>
              <a:t>📧</a:t>
            </a:r>
          </a:p>
          <a:p>
            <a:pPr algn="ctr">
              <a:buNone/>
            </a:pPr>
            <a:r>
              <a:rPr lang="ko-KR" sz="1600" b="1" dirty="0">
                <a:solidFill>
                  <a:srgbClr val="1B2A4A"/>
                </a:solidFill>
              </a:rPr>
              <a:t>잡무에서 해방!</a:t>
            </a:r>
          </a:p>
          <a:p>
            <a:pPr algn="ctr">
              <a:buNone/>
            </a:pPr>
            <a:r>
              <a:rPr lang="ko-KR" sz="1300" dirty="0">
                <a:solidFill>
                  <a:srgbClr val="3A5080"/>
                </a:solidFill>
              </a:rPr>
              <a:t>메일 요약 · 회의록 작성</a:t>
            </a:r>
          </a:p>
          <a:p>
            <a:pPr algn="ctr">
              <a:buNone/>
            </a:pPr>
            <a:r>
              <a:rPr lang="ko-KR" sz="1300" dirty="0">
                <a:solidFill>
                  <a:srgbClr val="3A5080"/>
                </a:solidFill>
              </a:rPr>
              <a:t>일정 등록 자동화</a:t>
            </a:r>
          </a:p>
        </p:txBody>
      </p:sp>
      <p:sp>
        <p:nvSpPr>
          <p:cNvPr id="23" name="Arrow23"/>
          <p:cNvSpPr/>
          <p:nvPr/>
        </p:nvSpPr>
        <p:spPr>
          <a:xfrm>
            <a:off x="3024000" y="3873500"/>
            <a:ext cx="342000" cy="342000"/>
          </a:xfrm>
          <a:prstGeom prst="rightArrow">
            <a:avLst/>
          </a:prstGeom>
          <a:solidFill>
            <a:srgbClr val="2E6DA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Card21"/>
          <p:cNvSpPr/>
          <p:nvPr/>
        </p:nvSpPr>
        <p:spPr>
          <a:xfrm>
            <a:off x="3315000" y="2032000"/>
            <a:ext cx="2600000" cy="4318000"/>
          </a:xfrm>
          <a:prstGeom prst="roundRect">
            <a:avLst>
              <a:gd name="adj" fmla="val 30000"/>
            </a:avLst>
          </a:prstGeom>
          <a:solidFill>
            <a:srgbClr val="E8F8F7"/>
          </a:solidFill>
          <a:ln w="19050">
            <a:solidFill>
              <a:srgbClr val="D0DCF0"/>
            </a:solidFill>
          </a:ln>
        </p:spPr>
        <p:txBody>
          <a:bodyPr vert="horz" wrap="square" lIns="182880" tIns="182880" rIns="182880" bIns="182880" anchor="t"/>
          <a:lstStyle/>
          <a:p>
            <a:pPr algn="ctr">
              <a:buNone/>
            </a:pPr>
            <a:r>
              <a:rPr lang="ko-KR" sz="3200" dirty="0"/>
              <a:t>💬</a:t>
            </a:r>
          </a:p>
          <a:p>
            <a:pPr algn="ctr">
              <a:buNone/>
            </a:pPr>
            <a:r>
              <a:rPr lang="ko-KR" sz="1600" b="1" dirty="0">
                <a:solidFill>
                  <a:srgbClr val="1B2A4A"/>
                </a:solidFill>
              </a:rPr>
              <a:t>한글 지시만으로!</a:t>
            </a:r>
          </a:p>
          <a:p>
            <a:pPr algn="ctr">
              <a:buNone/>
            </a:pPr>
            <a:r>
              <a:rPr lang="ko-KR" sz="1300" dirty="0">
                <a:solidFill>
                  <a:srgbClr val="3A5080"/>
                </a:solidFill>
              </a:rPr>
              <a:t>100% 한글 프롬프트로</a:t>
            </a:r>
          </a:p>
          <a:p>
            <a:pPr algn="ctr">
              <a:buNone/>
            </a:pPr>
            <a:r>
              <a:rPr lang="ko-KR" sz="1300" dirty="0">
                <a:solidFill>
                  <a:srgbClr val="3A5080"/>
                </a:solidFill>
              </a:rPr>
              <a:t>나만의 맞춤형 비서</a:t>
            </a:r>
          </a:p>
        </p:txBody>
      </p:sp>
      <p:sp>
        <p:nvSpPr>
          <p:cNvPr id="24" name="Arrow24"/>
          <p:cNvSpPr/>
          <p:nvPr/>
        </p:nvSpPr>
        <p:spPr>
          <a:xfrm>
            <a:off x="5959000" y="3873500"/>
            <a:ext cx="342000" cy="342000"/>
          </a:xfrm>
          <a:prstGeom prst="rightArrow">
            <a:avLst/>
          </a:prstGeom>
          <a:solidFill>
            <a:srgbClr val="2E6DA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Card22"/>
          <p:cNvSpPr/>
          <p:nvPr/>
        </p:nvSpPr>
        <p:spPr>
          <a:xfrm>
            <a:off x="6250000" y="2032000"/>
            <a:ext cx="2600000" cy="4318000"/>
          </a:xfrm>
          <a:prstGeom prst="roundRect">
            <a:avLst>
              <a:gd name="adj" fmla="val 30000"/>
            </a:avLst>
          </a:prstGeom>
          <a:solidFill>
            <a:srgbClr val="FFF5EE"/>
          </a:solidFill>
          <a:ln w="19050">
            <a:solidFill>
              <a:srgbClr val="D0DCF0"/>
            </a:solidFill>
          </a:ln>
        </p:spPr>
        <p:txBody>
          <a:bodyPr vert="horz" wrap="square" lIns="182880" tIns="182880" rIns="182880" bIns="182880" anchor="t"/>
          <a:lstStyle/>
          <a:p>
            <a:pPr algn="ctr">
              <a:buNone/>
            </a:pPr>
            <a:r>
              <a:rPr lang="ko-KR" sz="3200" dirty="0"/>
              <a:t>⚡</a:t>
            </a:r>
          </a:p>
          <a:p>
            <a:pPr algn="ctr">
              <a:buNone/>
            </a:pPr>
            <a:r>
              <a:rPr lang="ko-KR" sz="1600" b="1" dirty="0">
                <a:solidFill>
                  <a:srgbClr val="1B2A4A"/>
                </a:solidFill>
              </a:rPr>
              <a:t>5분 세팅 완료!</a:t>
            </a:r>
          </a:p>
          <a:p>
            <a:pPr algn="ctr">
              <a:buNone/>
            </a:pPr>
            <a:r>
              <a:rPr lang="ko-KR" sz="1300" dirty="0">
                <a:solidFill>
                  <a:srgbClr val="3A5080"/>
                </a:solidFill>
              </a:rPr>
              <a:t>코딩 지식 ZERO</a:t>
            </a:r>
          </a:p>
          <a:p>
            <a:pPr algn="ctr">
              <a:buNone/>
            </a:pPr>
            <a:r>
              <a:rPr lang="ko-KR" sz="1300" dirty="0">
                <a:solidFill>
                  <a:srgbClr val="3A5080"/>
                </a:solidFill>
              </a:rPr>
              <a:t>누구나 즉시 시작 가능</a:t>
            </a:r>
          </a:p>
        </p:txBody>
      </p:sp>
    </p:spTree>
    <p:extLst>
      <p:ext uri="{BB962C8B-B14F-4D97-AF65-F5344CB8AC3E}">
        <p14:creationId xmlns:p14="http://schemas.microsoft.com/office/powerpoint/2010/main" val="1761478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134492-0A11-77CA-842C-56151471B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254000"/>
            <a:ext cx="9906000" cy="1270000"/>
          </a:xfrm>
        </p:spPr>
        <p:txBody>
          <a:bodyPr/>
          <a:lstStyle/>
          <a:p>
            <a:pPr>
              <a:buNone/>
            </a:pPr>
            <a:r>
              <a:rPr lang="ko-KR" sz="2800" b="1" dirty="0"/>
              <a:t>Step 0. 딱 3번만 클릭하세요!</a:t>
            </a:r>
          </a:p>
        </p:txBody>
      </p:sp>
      <p:sp>
        <p:nvSpPr>
          <p:cNvPr id="30" name="Step30"/>
          <p:cNvSpPr/>
          <p:nvPr/>
        </p:nvSpPr>
        <p:spPr>
          <a:xfrm>
            <a:off x="380000" y="1397000"/>
            <a:ext cx="2600000" cy="4318000"/>
          </a:xfrm>
          <a:prstGeom prst="roundRect">
            <a:avLst>
              <a:gd name="adj" fmla="val 20000"/>
            </a:avLst>
          </a:prstGeom>
          <a:solidFill>
            <a:srgbClr val="EEF4FF"/>
          </a:solidFill>
          <a:ln w="25400">
            <a:solidFill>
              <a:srgbClr val="2E6DAF"/>
            </a:solidFill>
          </a:ln>
        </p:spPr>
        <p:txBody>
          <a:bodyPr wrap="square" lIns="228600" tIns="228600" rIns="228600" bIns="228600" anchor="t"/>
          <a:lstStyle/>
          <a:p>
            <a:pPr algn="ctr">
              <a:buNone/>
            </a:pPr>
            <a:r>
              <a:rPr lang="ko-KR" sz="6400" b="1" dirty="0">
                <a:solidFill>
                  <a:srgbClr val="2E6DAF"/>
                </a:solidFill>
              </a:rPr>
              <a:t>①</a:t>
            </a:r>
          </a:p>
          <a:p>
            <a:pPr algn="ctr">
              <a:buNone/>
            </a:pPr>
            <a:r>
              <a:rPr lang="ko-KR" sz="1800" b="1" dirty="0">
                <a:solidFill>
                  <a:srgbClr val="1B2A4A"/>
                </a:solidFill>
              </a:rPr>
              <a:t>구글 검색</a:t>
            </a:r>
          </a:p>
          <a:p>
            <a:pPr algn="ctr">
              <a:buNone/>
            </a:pPr>
            <a:r>
              <a:rPr lang="ko-KR" sz="1400" dirty="0">
                <a:solidFill>
                  <a:srgbClr val="3A5080"/>
                </a:solidFill>
              </a:rPr>
              <a:t>구글에서</a:t>
            </a:r>
          </a:p>
          <a:p>
            <a:pPr algn="ctr">
              <a:buNone/>
            </a:pPr>
            <a:r>
              <a:rPr lang="ko-KR" sz="1400" dirty="0">
                <a:solidFill>
                  <a:srgbClr val="3A5080"/>
                </a:solidFill>
              </a:rPr>
              <a:t>'Antigravity AI' 검색</a:t>
            </a:r>
          </a:p>
        </p:txBody>
      </p:sp>
      <p:sp>
        <p:nvSpPr>
          <p:cNvPr id="34" name="Arr34"/>
          <p:cNvSpPr/>
          <p:nvPr/>
        </p:nvSpPr>
        <p:spPr>
          <a:xfrm>
            <a:off x="3015000" y="2705000"/>
            <a:ext cx="380000" cy="380000"/>
          </a:xfrm>
          <a:prstGeom prst="rightArrow">
            <a:avLst/>
          </a:prstGeom>
          <a:solidFill>
            <a:srgbClr val="2E6DA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Step31"/>
          <p:cNvSpPr/>
          <p:nvPr/>
        </p:nvSpPr>
        <p:spPr>
          <a:xfrm>
            <a:off x="3315000" y="1397000"/>
            <a:ext cx="2600000" cy="4318000"/>
          </a:xfrm>
          <a:prstGeom prst="roundRect">
            <a:avLst>
              <a:gd name="adj" fmla="val 20000"/>
            </a:avLst>
          </a:prstGeom>
          <a:solidFill>
            <a:srgbClr val="E8F8F7"/>
          </a:solidFill>
          <a:ln w="25400">
            <a:solidFill>
              <a:srgbClr val="48A9A6"/>
            </a:solidFill>
          </a:ln>
        </p:spPr>
        <p:txBody>
          <a:bodyPr wrap="square" lIns="228600" tIns="228600" rIns="228600" bIns="228600" anchor="t"/>
          <a:lstStyle/>
          <a:p>
            <a:pPr algn="ctr">
              <a:buNone/>
            </a:pPr>
            <a:r>
              <a:rPr lang="ko-KR" sz="6400" b="1" dirty="0">
                <a:solidFill>
                  <a:srgbClr val="48A9A6"/>
                </a:solidFill>
              </a:rPr>
              <a:t>②</a:t>
            </a:r>
          </a:p>
          <a:p>
            <a:pPr algn="ctr">
              <a:buNone/>
            </a:pPr>
            <a:r>
              <a:rPr lang="ko-KR" sz="1800" b="1" dirty="0">
                <a:solidFill>
                  <a:srgbClr val="1B2A4A"/>
                </a:solidFill>
              </a:rPr>
              <a:t>다운로드</a:t>
            </a:r>
          </a:p>
          <a:p>
            <a:pPr algn="ctr">
              <a:buNone/>
            </a:pPr>
            <a:r>
              <a:rPr lang="ko-KR" sz="1400" dirty="0">
                <a:solidFill>
                  <a:srgbClr val="3A5080"/>
                </a:solidFill>
              </a:rPr>
              <a:t>공식 홈페이지에서</a:t>
            </a:r>
          </a:p>
          <a:p>
            <a:pPr algn="ctr">
              <a:buNone/>
            </a:pPr>
            <a:r>
              <a:rPr lang="ko-KR" sz="1400" dirty="0">
                <a:solidFill>
                  <a:srgbClr val="3A5080"/>
                </a:solidFill>
              </a:rPr>
              <a:t>'Windows용 다운로드' 클릭</a:t>
            </a:r>
          </a:p>
        </p:txBody>
      </p:sp>
      <p:sp>
        <p:nvSpPr>
          <p:cNvPr id="35" name="Arr35"/>
          <p:cNvSpPr/>
          <p:nvPr/>
        </p:nvSpPr>
        <p:spPr>
          <a:xfrm>
            <a:off x="5950000" y="2705000"/>
            <a:ext cx="380000" cy="380000"/>
          </a:xfrm>
          <a:prstGeom prst="rightArrow">
            <a:avLst/>
          </a:prstGeom>
          <a:solidFill>
            <a:srgbClr val="2E6DA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Step32"/>
          <p:cNvSpPr/>
          <p:nvPr/>
        </p:nvSpPr>
        <p:spPr>
          <a:xfrm>
            <a:off x="6250000" y="1397000"/>
            <a:ext cx="2600000" cy="4318000"/>
          </a:xfrm>
          <a:prstGeom prst="roundRect">
            <a:avLst>
              <a:gd name="adj" fmla="val 20000"/>
            </a:avLst>
          </a:prstGeom>
          <a:solidFill>
            <a:srgbClr val="FFF5EE"/>
          </a:solidFill>
          <a:ln w="25400">
            <a:solidFill>
              <a:srgbClr val="E8833A"/>
            </a:solidFill>
          </a:ln>
        </p:spPr>
        <p:txBody>
          <a:bodyPr wrap="square" lIns="228600" tIns="228600" rIns="228600" bIns="228600" anchor="t"/>
          <a:lstStyle/>
          <a:p>
            <a:pPr algn="ctr">
              <a:buNone/>
            </a:pPr>
            <a:r>
              <a:rPr lang="ko-KR" sz="6400" b="1" dirty="0">
                <a:solidFill>
                  <a:srgbClr val="E8833A"/>
                </a:solidFill>
              </a:rPr>
              <a:t>③</a:t>
            </a:r>
          </a:p>
          <a:p>
            <a:pPr algn="ctr">
              <a:buNone/>
            </a:pPr>
            <a:r>
              <a:rPr lang="ko-KR" sz="1800" b="1" dirty="0">
                <a:solidFill>
                  <a:srgbClr val="1B2A4A"/>
                </a:solidFill>
              </a:rPr>
              <a:t>설치 완료!</a:t>
            </a:r>
          </a:p>
          <a:p>
            <a:pPr algn="ctr">
              <a:buNone/>
            </a:pPr>
            <a:r>
              <a:rPr lang="ko-KR" sz="1400" dirty="0">
                <a:solidFill>
                  <a:srgbClr val="3A5080"/>
                </a:solidFill>
              </a:rPr>
              <a:t>파일 더블클릭 후</a:t>
            </a:r>
          </a:p>
          <a:p>
            <a:pPr algn="ctr">
              <a:buNone/>
            </a:pPr>
            <a:r>
              <a:rPr lang="ko-KR" sz="1400" dirty="0">
                <a:solidFill>
                  <a:srgbClr val="3A5080"/>
                </a:solidFill>
              </a:rPr>
              <a:t>'다음(Next)'만 계속 클릭</a:t>
            </a:r>
          </a:p>
        </p:txBody>
      </p:sp>
      <p:sp>
        <p:nvSpPr>
          <p:cNvPr id="33" name="StarNote"/>
          <p:cNvSpPr/>
          <p:nvPr/>
        </p:nvSpPr>
        <p:spPr>
          <a:xfrm>
            <a:off x="380000" y="5905500"/>
            <a:ext cx="8382000" cy="685800"/>
          </a:xfrm>
          <a:prstGeom prst="roundRect">
            <a:avLst>
              <a:gd name="adj" fmla="val 30000"/>
            </a:avLst>
          </a:prstGeom>
          <a:solidFill>
            <a:srgbClr val="FFF3E0"/>
          </a:solidFill>
          <a:ln w="19050">
            <a:solidFill>
              <a:srgbClr val="E8833A"/>
            </a:solidFill>
          </a:ln>
        </p:spPr>
        <p:txBody>
          <a:bodyPr wrap="square" lIns="228600" tIns="114300" rIns="228600" bIns="114300" anchor="ctr"/>
          <a:lstStyle/>
          <a:p>
            <a:pPr algn="ctr">
              <a:buNone/>
            </a:pPr>
            <a:r>
              <a:rPr lang="ko-KR" sz="1600" b="1" dirty="0">
                <a:solidFill>
                  <a:srgbClr val="E8833A"/>
                </a:solidFill>
              </a:rPr>
              <a:t>★  설치 완료 → 바탕화면에 우주인 아이콘 생성! 이제 AI 비서가 여러분 PC에 살고 있습니다 🚀</a:t>
            </a:r>
          </a:p>
        </p:txBody>
      </p:sp>
    </p:spTree>
    <p:extLst>
      <p:ext uri="{BB962C8B-B14F-4D97-AF65-F5344CB8AC3E}">
        <p14:creationId xmlns:p14="http://schemas.microsoft.com/office/powerpoint/2010/main" val="620547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9E5659-FB84-78DE-63F3-B364F867D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254000"/>
            <a:ext cx="9906000" cy="1270000"/>
          </a:xfrm>
        </p:spPr>
        <p:txBody>
          <a:bodyPr/>
          <a:lstStyle/>
          <a:p>
            <a:pPr>
              <a:buNone/>
            </a:pPr>
            <a:r>
              <a:rPr lang="ko-KR" sz="2800" b="1" dirty="0"/>
              <a:t>Step 1. '관리자 권한' 열기</a:t>
            </a:r>
          </a:p>
        </p:txBody>
      </p:sp>
      <p:sp>
        <p:nvSpPr>
          <p:cNvPr id="40" name="LeftInstr"/>
          <p:cNvSpPr/>
          <p:nvPr/>
        </p:nvSpPr>
        <p:spPr>
          <a:xfrm>
            <a:off x="380000" y="1066800"/>
            <a:ext cx="3810000" cy="4876200"/>
          </a:xfrm>
          <a:prstGeom prst="rect">
            <a:avLst/>
          </a:prstGeom>
          <a:noFill/>
        </p:spPr>
        <p:txBody>
          <a:bodyPr wrap="square" lIns="114300" tIns="114300" rIns="114300" bIns="114300" anchor="t"/>
          <a:lstStyle/>
          <a:p>
            <a:pPr>
              <a:buNone/>
            </a:pPr>
            <a:r>
              <a:rPr lang="ko-KR" sz="1600" b="1" dirty="0">
                <a:solidFill>
                  <a:srgbClr val="2E6DAF"/>
                </a:solidFill>
              </a:rPr>
              <a:t>🖱 STEP 1. Antigravity 실행</a:t>
            </a:r>
          </a:p>
          <a:p>
            <a:pPr marL="228600" indent="-228600">
              <a:buFont typeface="Arial"/>
              <a:buChar char="→"/>
            </a:pPr>
            <a:r>
              <a:rPr lang="ko-KR" sz="1500" dirty="0"/>
              <a:t>바탕화면 아이콘 우클릭</a:t>
            </a:r>
          </a:p>
          <a:p>
            <a:pPr marL="228600" indent="-228600">
              <a:buFont typeface="Arial"/>
              <a:buChar char="→"/>
            </a:pPr>
            <a:r>
              <a:rPr lang="ko-KR" sz="1500" dirty="0"/>
              <a:t>'관리자 권한으로 실행' 선택</a:t>
            </a:r>
          </a:p>
          <a:p>
            <a:pPr>
              <a:buNone/>
            </a:pPr>
            <a:r>
              <a:rPr lang="ko-KR" sz="1200" dirty="0"/>
              <a:t> </a:t>
            </a:r>
          </a:p>
          <a:p>
            <a:pPr>
              <a:buNone/>
            </a:pPr>
            <a:r>
              <a:rPr lang="ko-KR" sz="1600" b="1" dirty="0">
                <a:solidFill>
                  <a:srgbClr val="2E6DAF"/>
                </a:solidFill>
              </a:rPr>
              <a:t>⌨ STEP 2. PowerShell 열기</a:t>
            </a:r>
          </a:p>
          <a:p>
            <a:pPr marL="228600" indent="-228600">
              <a:buFont typeface="Arial"/>
              <a:buChar char="→"/>
            </a:pPr>
            <a:r>
              <a:rPr lang="ko-KR" sz="1500" dirty="0"/>
              <a:t>시작 → 'PowerShell' 검색</a:t>
            </a:r>
          </a:p>
          <a:p>
            <a:pPr marL="228600" indent="-228600">
              <a:buFont typeface="Arial"/>
              <a:buChar char="→"/>
            </a:pPr>
            <a:r>
              <a:rPr lang="ko-KR" sz="1500" dirty="0"/>
              <a:t>관리자 권한으로 실행</a:t>
            </a:r>
          </a:p>
          <a:p>
            <a:pPr marL="228600" indent="-228600">
              <a:buFont typeface="Arial"/>
              <a:buChar char="→"/>
            </a:pPr>
            <a:r>
              <a:rPr lang="ko-KR" sz="1500" dirty="0"/>
              <a:t>검은색 창 열어두기</a:t>
            </a:r>
          </a:p>
          <a:p>
            <a:pPr>
              <a:buNone/>
            </a:pPr>
            <a:r>
              <a:rPr lang="ko-KR" sz="1200" dirty="0"/>
              <a:t> </a:t>
            </a:r>
          </a:p>
          <a:p>
            <a:pPr>
              <a:buNone/>
            </a:pPr>
            <a:r>
              <a:rPr lang="ko-KR" sz="1400" b="1" dirty="0">
                <a:solidFill>
                  <a:srgbClr val="E8833A"/>
                </a:solidFill>
              </a:rPr>
              <a:t>★ 이 설정만 하면 AI가 대신 척척 설치!</a:t>
            </a:r>
          </a:p>
        </p:txBody>
      </p:sp>
      <p:sp>
        <p:nvSpPr>
          <p:cNvPr id="41" name="TermBg"/>
          <p:cNvSpPr/>
          <p:nvPr/>
        </p:nvSpPr>
        <p:spPr>
          <a:xfrm>
            <a:off x="4419600" y="1066800"/>
            <a:ext cx="4457400" cy="487620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 w="25400">
            <a:solidFill>
              <a:srgbClr val="2E6DA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TitleBar"/>
          <p:cNvSpPr/>
          <p:nvPr/>
        </p:nvSpPr>
        <p:spPr>
          <a:xfrm>
            <a:off x="4419600" y="1066800"/>
            <a:ext cx="4457400" cy="457200"/>
          </a:xfrm>
          <a:prstGeom prst="roundRect">
            <a:avLst>
              <a:gd name="adj" fmla="val 10000"/>
            </a:avLst>
          </a:prstGeom>
          <a:solidFill>
            <a:srgbClr val="2E6DAF"/>
          </a:solidFill>
          <a:ln w="0">
            <a:noFill/>
          </a:ln>
        </p:spPr>
        <p:txBody>
          <a:bodyPr wrap="square" lIns="228600" tIns="91440" rIns="228600" bIns="9144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/>
              </a:rPr>
              <a:t>Windows PowerShell (관리자)</a:t>
            </a:r>
          </a:p>
        </p:txBody>
      </p:sp>
      <p:sp>
        <p:nvSpPr>
          <p:cNvPr id="43" name="TermText"/>
          <p:cNvSpPr/>
          <p:nvPr/>
        </p:nvSpPr>
        <p:spPr>
          <a:xfrm>
            <a:off x="4533600" y="1600200"/>
            <a:ext cx="4229400" cy="4190400"/>
          </a:xfrm>
          <a:prstGeom prst="rect">
            <a:avLst/>
          </a:prstGeom>
          <a:noFill/>
        </p:spPr>
        <p:txBody>
          <a:bodyPr wrap="square" lIns="114300" tIns="114300" rIns="114300" bIns="114300" anchor="t"/>
          <a:lstStyle/>
          <a:p>
            <a:pPr>
              <a:buNone/>
            </a:pPr>
            <a:r>
              <a:rPr lang="en-US" sz="1300" dirty="0">
                <a:solidFill>
                  <a:srgbClr val="4EC9B0"/>
                </a:solidFill>
                <a:latin typeface="Consolas"/>
              </a:rPr>
              <a:t>PS C:UsersNDB&gt; _</a:t>
            </a:r>
          </a:p>
          <a:p>
            <a:pPr>
              <a:buNone/>
            </a:pPr>
            <a:r>
              <a:rPr lang="ko-KR" sz="1200" dirty="0">
                <a:solidFill>
                  <a:srgbClr val="888888"/>
                </a:solidFill>
              </a:rPr>
              <a:t> </a:t>
            </a:r>
          </a:p>
          <a:p>
            <a:pPr>
              <a:buNone/>
            </a:pPr>
            <a:r>
              <a:rPr lang="ko-KR" sz="1300" dirty="0">
                <a:solidFill>
                  <a:srgbClr val="FFCC00"/>
                </a:solidFill>
                <a:latin typeface="Consolas"/>
              </a:rPr>
              <a:t># AI가 자동으로 명령어를 실행!</a:t>
            </a:r>
          </a:p>
          <a:p>
            <a:pPr>
              <a:buNone/>
            </a:pPr>
            <a:r>
              <a:rPr lang="en-US" sz="1300" dirty="0">
                <a:solidFill>
                  <a:srgbClr val="9CDCFE"/>
                </a:solidFill>
                <a:latin typeface="Consolas"/>
              </a:rPr>
              <a:t>winget install -e --id</a:t>
            </a:r>
          </a:p>
          <a:p>
            <a:pPr>
              <a:buNone/>
            </a:pPr>
            <a:r>
              <a:rPr lang="en-US" sz="1300" dirty="0">
                <a:solidFill>
                  <a:srgbClr val="CE9178"/>
                </a:solidFill>
                <a:latin typeface="Consolas"/>
              </a:rPr>
              <a:t>  OpenJS.NodeJS</a:t>
            </a:r>
          </a:p>
          <a:p>
            <a:pPr>
              <a:buNone/>
            </a:pPr>
            <a:r>
              <a:rPr lang="en-US" sz="1300" dirty="0">
                <a:solidFill>
                  <a:srgbClr val="4EC9B0"/>
                </a:solidFill>
                <a:latin typeface="Consolas"/>
              </a:rPr>
              <a:t>Successfully installed ✓</a:t>
            </a:r>
          </a:p>
          <a:p>
            <a:pPr>
              <a:buNone/>
            </a:pPr>
            <a:r>
              <a:rPr lang="ko-KR" sz="1200" dirty="0">
                <a:solidFill>
                  <a:srgbClr val="444444"/>
                </a:solidFill>
              </a:rPr>
              <a:t> </a:t>
            </a:r>
          </a:p>
          <a:p>
            <a:pPr>
              <a:buNone/>
            </a:pPr>
            <a:r>
              <a:rPr lang="en-US" sz="1300" dirty="0">
                <a:solidFill>
                  <a:srgbClr val="9CDCFE"/>
                </a:solidFill>
                <a:latin typeface="Consolas"/>
              </a:rPr>
              <a:t>winget install -e --id Git.Git</a:t>
            </a:r>
          </a:p>
          <a:p>
            <a:pPr>
              <a:buNone/>
            </a:pPr>
            <a:r>
              <a:rPr lang="en-US" sz="1300" dirty="0">
                <a:solidFill>
                  <a:srgbClr val="4EC9B0"/>
                </a:solidFill>
                <a:latin typeface="Consolas"/>
              </a:rPr>
              <a:t>Successfully installed ✓</a:t>
            </a:r>
          </a:p>
          <a:p>
            <a:pPr>
              <a:buNone/>
            </a:pPr>
            <a:r>
              <a:rPr lang="ko-KR" sz="1200" dirty="0">
                <a:solidFill>
                  <a:srgbClr val="444444"/>
                </a:solidFill>
              </a:rPr>
              <a:t> </a:t>
            </a:r>
          </a:p>
          <a:p>
            <a:pPr>
              <a:buNone/>
            </a:pPr>
            <a:r>
              <a:rPr lang="ko-KR" sz="1300" b="1" dirty="0">
                <a:solidFill>
                  <a:srgbClr val="FFCC00"/>
                </a:solidFill>
                <a:latin typeface="Consolas"/>
              </a:rPr>
              <a:t>← 우리가 할 일: [Approve] 클릭만!</a:t>
            </a:r>
          </a:p>
        </p:txBody>
      </p:sp>
    </p:spTree>
    <p:extLst>
      <p:ext uri="{BB962C8B-B14F-4D97-AF65-F5344CB8AC3E}">
        <p14:creationId xmlns:p14="http://schemas.microsoft.com/office/powerpoint/2010/main" val="2291489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D10C67-0D69-CA78-7C93-F91AAA87B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254000"/>
            <a:ext cx="9906000" cy="1270000"/>
          </a:xfrm>
        </p:spPr>
        <p:txBody>
          <a:bodyPr/>
          <a:lstStyle/>
          <a:p>
            <a:pPr>
              <a:buNone/>
            </a:pPr>
            <a:r>
              <a:rPr lang="ko-KR" sz="2800" b="1" dirty="0"/>
              <a:t>Step 2. AI에게 "병원 비서" 성격 부여하기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D98060-4E9C-E026-CEF2-9BCD962B0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1778000"/>
            <a:ext cx="10160000" cy="4445000"/>
          </a:xfrm>
        </p:spPr>
        <p:txBody>
          <a:bodyPr/>
          <a:lstStyle/>
          <a:p>
            <a:pPr marL="342900" indent="-342900">
              <a:buFont typeface="Arial"/>
              <a:buChar char="①"/>
            </a:pPr>
            <a:r>
              <a:rPr lang="ko-KR" sz="1800" b="1" dirty="0">
                <a:solidFill>
                  <a:srgbClr val="2E6DAF"/>
                </a:solidFill>
              </a:rPr>
              <a:t>설정 열기: </a:t>
            </a:r>
            <a:r>
              <a:rPr lang="ko-KR" sz="1800" dirty="0"/>
              <a:t>화면 좌측 하단 톱니바퀴(⚙️ Settings) 클릭</a:t>
            </a:r>
          </a:p>
          <a:p>
            <a:pPr>
              <a:buNone/>
            </a:pPr>
            <a:r>
              <a:rPr lang="ko-KR" sz="1400" dirty="0"/>
              <a:t> </a:t>
            </a:r>
          </a:p>
          <a:p>
            <a:pPr marL="342900" indent="-342900">
              <a:buFont typeface="Arial"/>
              <a:buChar char="②"/>
            </a:pPr>
            <a:r>
              <a:rPr lang="ko-KR" sz="1800" b="1" dirty="0">
                <a:solidFill>
                  <a:srgbClr val="2E6DAF"/>
                </a:solidFill>
              </a:rPr>
              <a:t>복사 붙여넣기: </a:t>
            </a:r>
            <a:r>
              <a:rPr lang="ko-KR" sz="1800" dirty="0"/>
              <a:t>'Global Instruction' 칸에 아래 텍스트 복붙!</a:t>
            </a:r>
          </a:p>
          <a:p>
            <a:pPr>
              <a:buNone/>
            </a:pPr>
            <a:r>
              <a:rPr lang="ko-KR" sz="1400" dirty="0"/>
              <a:t> </a:t>
            </a:r>
          </a:p>
          <a:p>
            <a:pPr marL="342900" indent="-342900">
              <a:buNone/>
            </a:pPr>
            <a:r>
              <a:rPr lang="ko-KR" sz="1600" i="1" dirty="0">
                <a:solidFill>
                  <a:srgbClr val="48A9A6"/>
                </a:solidFill>
                <a:latin typeface="Consolas"/>
              </a:rPr>
              <a:t>"이름: 남양주백병원 AI비서 NDB, 의료 행정 보완 유지, 주도적 제안, 친절한 설명"</a:t>
            </a:r>
          </a:p>
          <a:p>
            <a:pPr>
              <a:buNone/>
            </a:pPr>
            <a:r>
              <a:rPr lang="ko-KR" sz="1400" dirty="0"/>
              <a:t> </a:t>
            </a:r>
          </a:p>
          <a:p>
            <a:pPr marL="228600" indent="-228600">
              <a:buFont typeface="Arial"/>
              <a:buChar char="★"/>
            </a:pPr>
            <a:r>
              <a:rPr lang="ko-KR" sz="1700" b="1" dirty="0">
                <a:solidFill>
                  <a:srgbClr val="E8833A"/>
                </a:solidFill>
              </a:rPr>
              <a:t>단 1분! 텍스트 복사(Ctrl+C) → 붙여넣기(Ctrl+V) 완료!</a:t>
            </a:r>
          </a:p>
        </p:txBody>
      </p:sp>
      <p:pic>
        <p:nvPicPr>
          <p:cNvPr id="4" name="Graphic 4" descr="Gear icon for persona setup slid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76000" y="3556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974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C68015-B9DB-4196-7D88-6EC593436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254000"/>
            <a:ext cx="9906000" cy="1270000"/>
          </a:xfrm>
        </p:spPr>
        <p:txBody>
          <a:bodyPr/>
          <a:lstStyle/>
          <a:p>
            <a:pPr>
              <a:buNone/>
            </a:pPr>
            <a:r>
              <a:rPr lang="ko-KR" sz="2800" b="1" dirty="0"/>
              <a:t>Step 3. 도구 설치? AI한테 말로 시키세요!</a:t>
            </a:r>
          </a:p>
        </p:txBody>
      </p:sp>
      <p:sp>
        <p:nvSpPr>
          <p:cNvPr id="56" name="LeftExp"/>
          <p:cNvSpPr/>
          <p:nvPr/>
        </p:nvSpPr>
        <p:spPr>
          <a:xfrm>
            <a:off x="380000" y="952500"/>
            <a:ext cx="4267200" cy="5410800"/>
          </a:xfrm>
          <a:prstGeom prst="rect">
            <a:avLst/>
          </a:prstGeom>
          <a:noFill/>
        </p:spPr>
        <p:txBody>
          <a:bodyPr wrap="square" lIns="114300" tIns="114300" rIns="228600" bIns="114300" anchor="t"/>
          <a:lstStyle/>
          <a:p>
            <a:pPr>
              <a:buNone/>
            </a:pPr>
            <a:r>
              <a:rPr lang="ko-KR" sz="1700" b="1" dirty="0">
                <a:solidFill>
                  <a:srgbClr val="2E6DAF"/>
                </a:solidFill>
              </a:rPr>
              <a:t>📌 MCP란?</a:t>
            </a:r>
          </a:p>
          <a:p>
            <a:pPr marL="228600" indent="-228600">
              <a:buFont typeface="Arial"/>
              <a:buChar char="•"/>
            </a:pPr>
            <a:r>
              <a:rPr lang="ko-KR" sz="1500" dirty="0"/>
              <a:t>AI 비서의 능력을 확장하는 도구 모음</a:t>
            </a:r>
          </a:p>
          <a:p>
            <a:pPr marL="228600" indent="-228600">
              <a:buFont typeface="Arial"/>
              <a:buChar char="•"/>
            </a:pPr>
            <a:r>
              <a:rPr lang="ko-KR" sz="1500" dirty="0"/>
              <a:t>Gmail, 캘린더, 웹 검색 등 연동</a:t>
            </a:r>
          </a:p>
          <a:p>
            <a:pPr>
              <a:buNone/>
            </a:pPr>
            <a:r>
              <a:rPr lang="ko-KR" sz="1300" dirty="0"/>
              <a:t> </a:t>
            </a:r>
          </a:p>
          <a:p>
            <a:pPr>
              <a:buNone/>
            </a:pPr>
            <a:r>
              <a:rPr lang="ko-KR" sz="1700" b="1" dirty="0">
                <a:solidFill>
                  <a:srgbClr val="2E6DAF"/>
                </a:solidFill>
              </a:rPr>
              <a:t>🛠 필요한 것:</a:t>
            </a:r>
          </a:p>
          <a:p>
            <a:pPr marL="228600" indent="-228600">
              <a:buFont typeface="Arial"/>
              <a:buChar char="→"/>
            </a:pPr>
            <a:r>
              <a:rPr lang="ko-KR" sz="1500" b="1" dirty="0">
                <a:solidFill>
                  <a:srgbClr val="48A9A6"/>
                </a:solidFill>
              </a:rPr>
              <a:t>Node.js  Git  Python</a:t>
            </a:r>
          </a:p>
          <a:p>
            <a:pPr>
              <a:buNone/>
            </a:pPr>
            <a:r>
              <a:rPr lang="ko-KR" sz="1300" dirty="0"/>
              <a:t> </a:t>
            </a:r>
          </a:p>
          <a:p>
            <a:pPr>
              <a:buNone/>
            </a:pPr>
            <a:r>
              <a:rPr lang="ko-KR" sz="1700" b="1" dirty="0">
                <a:solidFill>
                  <a:srgbClr val="E8833A"/>
                </a:solidFill>
              </a:rPr>
              <a:t>👆 설치 방법:</a:t>
            </a:r>
          </a:p>
          <a:p>
            <a:pPr>
              <a:buNone/>
            </a:pPr>
            <a:r>
              <a:rPr lang="ko-KR" sz="1500" dirty="0"/>
              <a:t>오른쪽처럼 말로 시키면 AI가</a:t>
            </a:r>
          </a:p>
          <a:p>
            <a:pPr>
              <a:buNone/>
            </a:pPr>
            <a:r>
              <a:rPr lang="ko-KR" sz="1500" dirty="0"/>
              <a:t>명령어를 직접 작성해 줍니다!</a:t>
            </a:r>
          </a:p>
          <a:p>
            <a:pPr>
              <a:buNone/>
            </a:pPr>
            <a:r>
              <a:rPr lang="ko-KR" sz="1300" dirty="0"/>
              <a:t> </a:t>
            </a:r>
          </a:p>
          <a:p>
            <a:pPr>
              <a:buNone/>
            </a:pPr>
            <a:r>
              <a:rPr lang="ko-KR" sz="1400" b="1" dirty="0">
                <a:solidFill>
                  <a:srgbClr val="7CB342"/>
                </a:solidFill>
              </a:rPr>
              <a:t>💡 활용: NotebookLM 연동으로</a:t>
            </a:r>
          </a:p>
          <a:p>
            <a:pPr>
              <a:buNone/>
            </a:pPr>
            <a:r>
              <a:rPr lang="ko-KR" sz="1400" dirty="0"/>
              <a:t>병원 매뉴얼 즉시 요약/검색!</a:t>
            </a:r>
          </a:p>
        </p:txBody>
      </p:sp>
      <p:sp>
        <p:nvSpPr>
          <p:cNvPr id="50" name="ChatBg"/>
          <p:cNvSpPr/>
          <p:nvPr/>
        </p:nvSpPr>
        <p:spPr>
          <a:xfrm>
            <a:off x="4876200" y="952500"/>
            <a:ext cx="4000000" cy="54108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9050">
            <a:solidFill>
              <a:srgbClr val="D0D7E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ChatHdr"/>
          <p:cNvSpPr/>
          <p:nvPr/>
        </p:nvSpPr>
        <p:spPr>
          <a:xfrm>
            <a:off x="4876200" y="952500"/>
            <a:ext cx="4000000" cy="457200"/>
          </a:xfrm>
          <a:prstGeom prst="roundRect">
            <a:avLst>
              <a:gd name="adj" fmla="val 10000"/>
            </a:avLst>
          </a:prstGeom>
          <a:solidFill>
            <a:srgbClr val="2E6DAF"/>
          </a:solidFill>
          <a:ln w="0">
            <a:noFill/>
          </a:ln>
        </p:spPr>
        <p:txBody>
          <a:bodyPr wrap="square" lIns="228600" tIns="91440" rIns="228600" bIns="91440" anchor="ctr"/>
          <a:lstStyle/>
          <a:p>
            <a:pPr algn="ctr">
              <a:buNone/>
            </a:pPr>
            <a:r>
              <a:rPr lang="ko-KR" sz="1400" b="1" dirty="0">
                <a:solidFill>
                  <a:srgbClr val="FFFFFF"/>
                </a:solidFill>
              </a:rPr>
              <a:t>🤖  남양주백병원 AI비서 NDB</a:t>
            </a:r>
          </a:p>
        </p:txBody>
      </p:sp>
      <p:sp>
        <p:nvSpPr>
          <p:cNvPr id="52" name="UserMsg"/>
          <p:cNvSpPr/>
          <p:nvPr/>
        </p:nvSpPr>
        <p:spPr>
          <a:xfrm>
            <a:off x="6171600" y="1676400"/>
            <a:ext cx="2590800" cy="685800"/>
          </a:xfrm>
          <a:prstGeom prst="roundRect">
            <a:avLst>
              <a:gd name="adj" fmla="val 30000"/>
            </a:avLst>
          </a:prstGeom>
          <a:solidFill>
            <a:srgbClr val="2E6DAF"/>
          </a:solidFill>
          <a:ln w="0">
            <a:noFill/>
          </a:ln>
        </p:spPr>
        <p:txBody>
          <a:bodyPr wrap="square" lIns="182880" tIns="91440" rIns="182880" bIns="91440" anchor="ctr"/>
          <a:lstStyle/>
          <a:p>
            <a:pPr algn="l">
              <a:buNone/>
            </a:pPr>
            <a:r>
              <a:rPr lang="ko-KR" sz="1300" dirty="0">
                <a:solidFill>
                  <a:srgbClr val="FFFFFF"/>
                </a:solidFill>
              </a:rPr>
              <a:t>내 PC에 Node.js, Git, Python</a:t>
            </a:r>
          </a:p>
          <a:p>
            <a:pPr algn="l">
              <a:buNone/>
            </a:pPr>
            <a:r>
              <a:rPr lang="ko-KR" sz="1300" dirty="0">
                <a:solidFill>
                  <a:srgbClr val="FFFFFF"/>
                </a:solidFill>
              </a:rPr>
              <a:t>알아서 설치해 줘 💬</a:t>
            </a:r>
          </a:p>
        </p:txBody>
      </p:sp>
      <p:sp>
        <p:nvSpPr>
          <p:cNvPr id="53" name="MeLabel"/>
          <p:cNvSpPr/>
          <p:nvPr/>
        </p:nvSpPr>
        <p:spPr>
          <a:xfrm>
            <a:off x="5985000" y="1600200"/>
            <a:ext cx="190500" cy="190500"/>
          </a:xfrm>
          <a:prstGeom prst="ellipse">
            <a:avLst/>
          </a:prstGeom>
          <a:solidFill>
            <a:srgbClr val="1B2A4A"/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sz="1000" b="1" dirty="0">
                <a:solidFill>
                  <a:srgbClr val="FFFFFF"/>
                </a:solidFill>
              </a:rPr>
              <a:t>나</a:t>
            </a:r>
          </a:p>
        </p:txBody>
      </p:sp>
      <p:sp>
        <p:nvSpPr>
          <p:cNvPr id="54" name="AIMsg"/>
          <p:cNvSpPr/>
          <p:nvPr/>
        </p:nvSpPr>
        <p:spPr>
          <a:xfrm>
            <a:off x="5029200" y="2590800"/>
            <a:ext cx="3200400" cy="1828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D0D7E6"/>
            </a:solidFill>
          </a:ln>
        </p:spPr>
        <p:txBody>
          <a:bodyPr wrap="square" lIns="182880" tIns="182880" rIns="182880" bIns="182880" anchor="t"/>
          <a:lstStyle/>
          <a:p>
            <a:pPr>
              <a:buNone/>
            </a:pPr>
            <a:r>
              <a:rPr lang="ko-KR" sz="1300" b="1" dirty="0">
                <a:solidFill>
                  <a:srgbClr val="2E6DAF"/>
                </a:solidFill>
              </a:rPr>
              <a:t>🤖 알겠습니다! 설치 명령어입니다:</a:t>
            </a:r>
          </a:p>
          <a:p>
            <a:pPr>
              <a:buNone/>
            </a:pPr>
            <a:r>
              <a:rPr lang="en-US" sz="1200" dirty="0">
                <a:solidFill>
                  <a:srgbClr val="1B2A4A"/>
                </a:solidFill>
                <a:latin typeface="Consolas"/>
              </a:rPr>
              <a:t>winget install NodeJS</a:t>
            </a:r>
          </a:p>
          <a:p>
            <a:pPr>
              <a:buNone/>
            </a:pPr>
            <a:r>
              <a:rPr lang="en-US" sz="1200" dirty="0">
                <a:solidFill>
                  <a:srgbClr val="1B2A4A"/>
                </a:solidFill>
                <a:latin typeface="Consolas"/>
              </a:rPr>
              <a:t>winget install Git.Git</a:t>
            </a:r>
          </a:p>
          <a:p>
            <a:pPr>
              <a:buNone/>
            </a:pPr>
            <a:r>
              <a:rPr lang="en-US" sz="1200" dirty="0">
                <a:solidFill>
                  <a:srgbClr val="1B2A4A"/>
                </a:solidFill>
                <a:latin typeface="Consolas"/>
              </a:rPr>
              <a:t>winget install Python</a:t>
            </a:r>
          </a:p>
        </p:txBody>
      </p:sp>
      <p:sp>
        <p:nvSpPr>
          <p:cNvPr id="55" name="ApproveBtn"/>
          <p:cNvSpPr/>
          <p:nvPr/>
        </p:nvSpPr>
        <p:spPr>
          <a:xfrm>
            <a:off x="5524200" y="4648200"/>
            <a:ext cx="2209800" cy="457200"/>
          </a:xfrm>
          <a:prstGeom prst="roundRect">
            <a:avLst>
              <a:gd name="adj" fmla="val 50000"/>
            </a:avLst>
          </a:prstGeom>
          <a:solidFill>
            <a:srgbClr val="7CB342"/>
          </a:solidFill>
          <a:ln w="0">
            <a:noFill/>
          </a:ln>
        </p:spPr>
        <p:txBody>
          <a:bodyPr wrap="square" lIns="114300" tIns="91440" rIns="114300" bIns="91440" anchor="ctr"/>
          <a:lstStyle/>
          <a:p>
            <a:pPr algn="ctr">
              <a:buNone/>
            </a:pPr>
            <a:r>
              <a:rPr lang="ko-KR" sz="1600" b="1" dirty="0">
                <a:solidFill>
                  <a:srgbClr val="FFFFFF"/>
                </a:solidFill>
              </a:rPr>
              <a:t>✅ Approve (수락)</a:t>
            </a:r>
          </a:p>
        </p:txBody>
      </p:sp>
    </p:spTree>
    <p:extLst>
      <p:ext uri="{BB962C8B-B14F-4D97-AF65-F5344CB8AC3E}">
        <p14:creationId xmlns:p14="http://schemas.microsoft.com/office/powerpoint/2010/main" val="317008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9EA108-C2EA-1DC3-7869-6F625B781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254000"/>
            <a:ext cx="9906000" cy="1270000"/>
          </a:xfrm>
        </p:spPr>
        <p:txBody>
          <a:bodyPr/>
          <a:lstStyle/>
          <a:p>
            <a:pPr>
              <a:buNone/>
            </a:pPr>
            <a:r>
              <a:rPr lang="ko-KR" sz="2800" b="1" dirty="0"/>
              <a:t>Step 4. 내 일정과 메일을 비서에게 맡기기</a:t>
            </a:r>
          </a:p>
        </p:txBody>
      </p:sp>
      <p:sp>
        <p:nvSpPr>
          <p:cNvPr id="80" name="GWSLeft"/>
          <p:cNvSpPr/>
          <p:nvPr/>
        </p:nvSpPr>
        <p:spPr>
          <a:xfrm>
            <a:off x="380000" y="952500"/>
            <a:ext cx="3962400" cy="5486400"/>
          </a:xfrm>
          <a:prstGeom prst="rect">
            <a:avLst/>
          </a:prstGeom>
          <a:noFill/>
        </p:spPr>
        <p:txBody>
          <a:bodyPr wrap="square" lIns="114300" tIns="114300" rIns="228600" bIns="114300" anchor="t"/>
          <a:lstStyle/>
          <a:p>
            <a:pPr marL="342900" indent="-342900">
              <a:buNone/>
            </a:pPr>
            <a:r>
              <a:rPr lang="ko-KR" sz="1600" b="1" dirty="0">
                <a:solidFill>
                  <a:srgbClr val="2E6DAF"/>
                </a:solidFill>
              </a:rPr>
              <a:t>① 구글 클라우드 콘솔 입장</a:t>
            </a:r>
          </a:p>
          <a:p>
            <a:pPr marL="685800" indent="-342900">
              <a:buFont typeface="Arial"/>
              <a:buChar char="→"/>
            </a:pPr>
            <a:r>
              <a:rPr lang="ko-KR" sz="1400" dirty="0"/>
              <a:t>새 프로젝트 생성</a:t>
            </a:r>
          </a:p>
          <a:p>
            <a:pPr>
              <a:buNone/>
            </a:pPr>
            <a:r>
              <a:rPr lang="ko-KR" sz="1200" dirty="0"/>
              <a:t> </a:t>
            </a:r>
          </a:p>
          <a:p>
            <a:pPr marL="342900" indent="-342900">
              <a:buNone/>
            </a:pPr>
            <a:r>
              <a:rPr lang="ko-KR" sz="1600" b="1" dirty="0">
                <a:solidFill>
                  <a:srgbClr val="2E6DAF"/>
                </a:solidFill>
              </a:rPr>
              <a:t>② API 권한 스위치 켜기 →</a:t>
            </a:r>
          </a:p>
          <a:p>
            <a:pPr>
              <a:buNone/>
            </a:pPr>
            <a:r>
              <a:rPr lang="ko-KR" sz="1200" dirty="0"/>
              <a:t> </a:t>
            </a:r>
          </a:p>
          <a:p>
            <a:pPr marL="342900" indent="-342900">
              <a:buNone/>
            </a:pPr>
            <a:r>
              <a:rPr lang="ko-KR" sz="1600" b="1" dirty="0">
                <a:solidFill>
                  <a:srgbClr val="2E6DAF"/>
                </a:solidFill>
              </a:rPr>
              <a:t>③ 이메일 테스트 사용자 등록</a:t>
            </a:r>
          </a:p>
          <a:p>
            <a:pPr>
              <a:buNone/>
            </a:pPr>
            <a:r>
              <a:rPr lang="ko-KR" sz="1200" dirty="0"/>
              <a:t> </a:t>
            </a:r>
          </a:p>
          <a:p>
            <a:pPr marL="342900" indent="-342900">
              <a:buNone/>
            </a:pPr>
            <a:r>
              <a:rPr lang="ko-KR" sz="1600" b="1" dirty="0">
                <a:solidFill>
                  <a:srgbClr val="2E6DAF"/>
                </a:solidFill>
              </a:rPr>
              <a:t>④ credentials.json 저장</a:t>
            </a:r>
          </a:p>
          <a:p>
            <a:pPr marL="685800" indent="-342900">
              <a:buFont typeface="Arial"/>
              <a:buChar char="→"/>
            </a:pPr>
            <a:r>
              <a:rPr lang="ko-KR" sz="1400" dirty="0"/>
              <a:t>클라이언트 ID 생성 후 다운로드</a:t>
            </a:r>
          </a:p>
          <a:p>
            <a:pPr>
              <a:buNone/>
            </a:pPr>
            <a:r>
              <a:rPr lang="ko-KR" sz="1200" dirty="0"/>
              <a:t> </a:t>
            </a:r>
          </a:p>
          <a:p>
            <a:pPr>
              <a:buNone/>
            </a:pPr>
            <a:r>
              <a:rPr lang="ko-KR" sz="1500" i="1" dirty="0">
                <a:solidFill>
                  <a:srgbClr val="48A9A6"/>
                </a:solidFill>
                <a:latin typeface="Consolas"/>
              </a:rPr>
              <a:t>"credentials.json 파일로 GWS 연동해줘!"</a:t>
            </a:r>
          </a:p>
        </p:txBody>
      </p:sp>
      <p:sp>
        <p:nvSpPr>
          <p:cNvPr id="85" name="PanelHdr"/>
          <p:cNvSpPr/>
          <p:nvPr/>
        </p:nvSpPr>
        <p:spPr>
          <a:xfrm>
            <a:off x="4724400" y="952500"/>
            <a:ext cx="4114800" cy="53340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 w="0">
            <a:noFill/>
          </a:ln>
        </p:spPr>
        <p:txBody>
          <a:bodyPr wrap="square" lIns="228600" tIns="91440" rIns="228600" bIns="91440" anchor="ctr"/>
          <a:lstStyle/>
          <a:p>
            <a:pPr algn="ctr">
              <a:buNone/>
            </a:pPr>
            <a:r>
              <a:rPr lang="ko-KR" sz="1500" b="1" dirty="0">
                <a:solidFill>
                  <a:srgbClr val="FFFFFF"/>
                </a:solidFill>
              </a:rPr>
              <a:t>🔑  Google API 권한 설정</a:t>
            </a:r>
          </a:p>
        </p:txBody>
      </p:sp>
      <p:sp>
        <p:nvSpPr>
          <p:cNvPr id="86" name="Toggle86"/>
          <p:cNvSpPr/>
          <p:nvPr/>
        </p:nvSpPr>
        <p:spPr>
          <a:xfrm>
            <a:off x="4724400" y="1600200"/>
            <a:ext cx="3047400" cy="53340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 w="0">
            <a:noFill/>
          </a:ln>
        </p:spPr>
        <p:txBody>
          <a:bodyPr wrap="square" lIns="228600" tIns="91440" rIns="228600" bIns="91440" anchor="ctr"/>
          <a:lstStyle/>
          <a:p>
            <a:pPr algn="l">
              <a:buNone/>
            </a:pPr>
            <a:r>
              <a:rPr lang="ko-KR" sz="1500" b="1" dirty="0">
                <a:solidFill>
                  <a:srgbClr val="FFFFFF"/>
                </a:solidFill>
              </a:rPr>
              <a:t>ON  Gmail API</a:t>
            </a:r>
          </a:p>
        </p:txBody>
      </p:sp>
      <p:sp>
        <p:nvSpPr>
          <p:cNvPr id="87" name="Toggle87"/>
          <p:cNvSpPr/>
          <p:nvPr/>
        </p:nvSpPr>
        <p:spPr>
          <a:xfrm>
            <a:off x="4724400" y="2209800"/>
            <a:ext cx="3047400" cy="53340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 w="0">
            <a:noFill/>
          </a:ln>
        </p:spPr>
        <p:txBody>
          <a:bodyPr wrap="square" lIns="228600" tIns="91440" rIns="228600" bIns="91440" anchor="ctr"/>
          <a:lstStyle/>
          <a:p>
            <a:pPr algn="l">
              <a:buNone/>
            </a:pPr>
            <a:r>
              <a:rPr lang="ko-KR" sz="1500" b="1" dirty="0">
                <a:solidFill>
                  <a:srgbClr val="FFFFFF"/>
                </a:solidFill>
              </a:rPr>
              <a:t>ON  Google Calendar API</a:t>
            </a:r>
          </a:p>
        </p:txBody>
      </p:sp>
      <p:sp>
        <p:nvSpPr>
          <p:cNvPr id="88" name="Toggle88"/>
          <p:cNvSpPr/>
          <p:nvPr/>
        </p:nvSpPr>
        <p:spPr>
          <a:xfrm>
            <a:off x="4724400" y="2819400"/>
            <a:ext cx="3047400" cy="53340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 w="0">
            <a:noFill/>
          </a:ln>
        </p:spPr>
        <p:txBody>
          <a:bodyPr wrap="square" lIns="228600" tIns="91440" rIns="228600" bIns="91440" anchor="ctr"/>
          <a:lstStyle/>
          <a:p>
            <a:pPr algn="l">
              <a:buNone/>
            </a:pPr>
            <a:r>
              <a:rPr lang="ko-KR" sz="1500" b="1" dirty="0">
                <a:solidFill>
                  <a:srgbClr val="FFFFFF"/>
                </a:solidFill>
              </a:rPr>
              <a:t>ON  Google Docs API</a:t>
            </a:r>
          </a:p>
        </p:txBody>
      </p:sp>
      <p:sp>
        <p:nvSpPr>
          <p:cNvPr id="89" name="Toggle89"/>
          <p:cNvSpPr/>
          <p:nvPr/>
        </p:nvSpPr>
        <p:spPr>
          <a:xfrm>
            <a:off x="4724400" y="3429000"/>
            <a:ext cx="3047400" cy="533400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 w="0">
            <a:noFill/>
          </a:ln>
        </p:spPr>
        <p:txBody>
          <a:bodyPr wrap="square" lIns="228600" tIns="91440" rIns="228600" bIns="91440" anchor="ctr"/>
          <a:lstStyle/>
          <a:p>
            <a:pPr algn="l">
              <a:buNone/>
            </a:pPr>
            <a:r>
              <a:rPr lang="ko-KR" sz="1500" b="1" dirty="0">
                <a:solidFill>
                  <a:srgbClr val="FFFFFF"/>
                </a:solidFill>
              </a:rPr>
              <a:t>ON  Google Slides API</a:t>
            </a:r>
          </a:p>
        </p:txBody>
      </p:sp>
      <p:sp>
        <p:nvSpPr>
          <p:cNvPr id="90" name="Toggle90"/>
          <p:cNvSpPr/>
          <p:nvPr/>
        </p:nvSpPr>
        <p:spPr>
          <a:xfrm>
            <a:off x="4724400" y="4038600"/>
            <a:ext cx="3047400" cy="53340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 w="0">
            <a:noFill/>
          </a:ln>
        </p:spPr>
        <p:txBody>
          <a:bodyPr wrap="square" lIns="228600" tIns="91440" rIns="228600" bIns="91440" anchor="ctr"/>
          <a:lstStyle/>
          <a:p>
            <a:pPr algn="l">
              <a:buNone/>
            </a:pPr>
            <a:r>
              <a:rPr lang="ko-KR" sz="1500" b="1" dirty="0">
                <a:solidFill>
                  <a:srgbClr val="FFFFFF"/>
                </a:solidFill>
              </a:rPr>
              <a:t>ON  Google Drive API</a:t>
            </a:r>
          </a:p>
        </p:txBody>
      </p:sp>
      <p:sp>
        <p:nvSpPr>
          <p:cNvPr id="91" name="ResultBox"/>
          <p:cNvSpPr/>
          <p:nvPr/>
        </p:nvSpPr>
        <p:spPr>
          <a:xfrm>
            <a:off x="4724400" y="4724400"/>
            <a:ext cx="4114800" cy="685800"/>
          </a:xfrm>
          <a:prstGeom prst="roundRect">
            <a:avLst>
              <a:gd name="adj" fmla="val 20000"/>
            </a:avLst>
          </a:prstGeom>
          <a:solidFill>
            <a:srgbClr val="E8F8F7"/>
          </a:solidFill>
          <a:ln w="25400">
            <a:solidFill>
              <a:srgbClr val="48A9A6"/>
            </a:solidFill>
          </a:ln>
        </p:spPr>
        <p:txBody>
          <a:bodyPr wrap="square" lIns="228600" tIns="91440" rIns="228600" bIns="91440" anchor="ctr"/>
          <a:lstStyle/>
          <a:p>
            <a:pPr algn="ctr">
              <a:buNone/>
            </a:pPr>
            <a:r>
              <a:rPr lang="ko-KR" sz="1500" b="1" dirty="0">
                <a:solidFill>
                  <a:srgbClr val="1B2A4A"/>
                </a:solidFill>
              </a:rPr>
              <a:t>✅ AI 비서가 메일·일정·문서를 자유롭게 처리!</a:t>
            </a:r>
          </a:p>
        </p:txBody>
      </p:sp>
    </p:spTree>
    <p:extLst>
      <p:ext uri="{BB962C8B-B14F-4D97-AF65-F5344CB8AC3E}">
        <p14:creationId xmlns:p14="http://schemas.microsoft.com/office/powerpoint/2010/main" val="3694101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E9F821-6505-7965-F10C-725594187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254000"/>
            <a:ext cx="9906000" cy="1270000"/>
          </a:xfrm>
        </p:spPr>
        <p:txBody>
          <a:bodyPr/>
          <a:lstStyle/>
          <a:p>
            <a:pPr>
              <a:buNone/>
            </a:pPr>
            <a:r>
              <a:rPr lang="ko-KR" sz="2800" b="1" dirty="0"/>
              <a:t>Step 5. 루틴 업무를 버튼 하나로 끝장내기!</a:t>
            </a:r>
          </a:p>
        </p:txBody>
      </p:sp>
      <p:pic>
        <p:nvPicPr>
          <p:cNvPr id="4" name="Graphic 4" descr="Gears icon for workflow slid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76000" y="355600"/>
            <a:ext cx="609600" cy="609600"/>
          </a:xfrm>
          <a:prstGeom prst="rect">
            <a:avLst/>
          </a:prstGeom>
        </p:spPr>
      </p:pic>
      <p:sp>
        <p:nvSpPr>
          <p:cNvPr id="70" name="Pill70"/>
          <p:cNvSpPr/>
          <p:nvPr/>
        </p:nvSpPr>
        <p:spPr>
          <a:xfrm>
            <a:off x="304800" y="1143000"/>
            <a:ext cx="2286000" cy="1600000"/>
          </a:xfrm>
          <a:prstGeom prst="roundRect">
            <a:avLst>
              <a:gd name="adj" fmla="val 30000"/>
            </a:avLst>
          </a:prstGeom>
          <a:solidFill>
            <a:srgbClr val="EEF4FF"/>
          </a:solidFill>
          <a:ln w="25400">
            <a:solidFill>
              <a:srgbClr val="2E6DAF"/>
            </a:solidFill>
          </a:ln>
        </p:spPr>
        <p:txBody>
          <a:bodyPr wrap="square" lIns="182880" tIns="182880" rIns="182880" bIns="182880" anchor="ctr"/>
          <a:lstStyle/>
          <a:p>
            <a:pPr algn="ctr">
              <a:buNone/>
            </a:pPr>
            <a:r>
              <a:rPr lang="ko-KR" sz="2000" dirty="0"/>
              <a:t>📋</a:t>
            </a:r>
          </a:p>
          <a:p>
            <a:pPr algn="ctr">
              <a:buNone/>
            </a:pPr>
            <a:r>
              <a:rPr lang="ko-KR" sz="1500" b="1" dirty="0">
                <a:solidFill>
                  <a:srgbClr val="1B2A4A"/>
                </a:solidFill>
              </a:rPr>
              <a:t>반복 루틴 업무</a:t>
            </a:r>
          </a:p>
          <a:p>
            <a:pPr algn="ctr">
              <a:buNone/>
            </a:pPr>
            <a:r>
              <a:rPr lang="ko-KR" sz="1300" dirty="0">
                <a:solidFill>
                  <a:srgbClr val="3A5080"/>
                </a:solidFill>
              </a:rPr>
              <a:t>매일 같은 작업들</a:t>
            </a:r>
          </a:p>
        </p:txBody>
      </p:sp>
      <p:sp>
        <p:nvSpPr>
          <p:cNvPr id="71" name="RArr71"/>
          <p:cNvSpPr/>
          <p:nvPr/>
        </p:nvSpPr>
        <p:spPr>
          <a:xfrm>
            <a:off x="2667600" y="1790400"/>
            <a:ext cx="304800" cy="304800"/>
          </a:xfrm>
          <a:prstGeom prst="rightArrow">
            <a:avLst/>
          </a:prstGeom>
          <a:solidFill>
            <a:srgbClr val="48A9A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2" name="Pill72"/>
          <p:cNvSpPr/>
          <p:nvPr/>
        </p:nvSpPr>
        <p:spPr>
          <a:xfrm>
            <a:off x="3048000" y="1143000"/>
            <a:ext cx="2286000" cy="1600000"/>
          </a:xfrm>
          <a:prstGeom prst="roundRect">
            <a:avLst>
              <a:gd name="adj" fmla="val 30000"/>
            </a:avLst>
          </a:prstGeom>
          <a:solidFill>
            <a:srgbClr val="E8F8F7"/>
          </a:solidFill>
          <a:ln w="25400">
            <a:solidFill>
              <a:srgbClr val="48A9A6"/>
            </a:solidFill>
          </a:ln>
        </p:spPr>
        <p:txBody>
          <a:bodyPr wrap="square" lIns="182880" tIns="182880" rIns="182880" bIns="182880" anchor="ctr"/>
          <a:lstStyle/>
          <a:p>
            <a:pPr algn="ctr">
              <a:buNone/>
            </a:pPr>
            <a:r>
              <a:rPr lang="ko-KR" sz="2000" dirty="0"/>
              <a:t>💬</a:t>
            </a:r>
          </a:p>
          <a:p>
            <a:pPr algn="ctr">
              <a:buNone/>
            </a:pPr>
            <a:r>
              <a:rPr lang="ko-KR" sz="1500" b="1" dirty="0">
                <a:solidFill>
                  <a:srgbClr val="1B2A4A"/>
                </a:solidFill>
              </a:rPr>
              <a:t>AI에게 프롬프트</a:t>
            </a:r>
          </a:p>
          <a:p>
            <a:pPr algn="ctr">
              <a:buNone/>
            </a:pPr>
            <a:r>
              <a:rPr lang="ko-KR" sz="1300" dirty="0">
                <a:solidFill>
                  <a:srgbClr val="3A5080"/>
                </a:solidFill>
              </a:rPr>
              <a:t>"워크플로우로 만들어줘"</a:t>
            </a:r>
          </a:p>
        </p:txBody>
      </p:sp>
      <p:sp>
        <p:nvSpPr>
          <p:cNvPr id="73" name="RArr73"/>
          <p:cNvSpPr/>
          <p:nvPr/>
        </p:nvSpPr>
        <p:spPr>
          <a:xfrm>
            <a:off x="5410800" y="1790400"/>
            <a:ext cx="304800" cy="304800"/>
          </a:xfrm>
          <a:prstGeom prst="rightArrow">
            <a:avLst/>
          </a:prstGeom>
          <a:solidFill>
            <a:srgbClr val="48A9A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4" name="Pill74"/>
          <p:cNvSpPr/>
          <p:nvPr/>
        </p:nvSpPr>
        <p:spPr>
          <a:xfrm>
            <a:off x="5791200" y="1143000"/>
            <a:ext cx="2895600" cy="1600000"/>
          </a:xfrm>
          <a:prstGeom prst="roundRect">
            <a:avLst>
              <a:gd name="adj" fmla="val 30000"/>
            </a:avLst>
          </a:prstGeom>
          <a:solidFill>
            <a:srgbClr val="FFF3E0"/>
          </a:solidFill>
          <a:ln w="25400">
            <a:solidFill>
              <a:srgbClr val="E8833A"/>
            </a:solidFill>
          </a:ln>
        </p:spPr>
        <p:txBody>
          <a:bodyPr wrap="square" lIns="182880" tIns="182880" rIns="182880" bIns="182880" anchor="ctr"/>
          <a:lstStyle/>
          <a:p>
            <a:pPr algn="ctr">
              <a:buNone/>
            </a:pPr>
            <a:r>
              <a:rPr lang="ko-KR" sz="2000" dirty="0"/>
              <a:t>⚙️</a:t>
            </a:r>
          </a:p>
          <a:p>
            <a:pPr algn="ctr">
              <a:buNone/>
            </a:pPr>
            <a:r>
              <a:rPr lang="ko-KR" sz="1500" b="1" dirty="0">
                <a:solidFill>
                  <a:srgbClr val="1B2A4A"/>
                </a:solidFill>
              </a:rPr>
              <a:t>워크플로우 생성</a:t>
            </a:r>
          </a:p>
          <a:p>
            <a:pPr algn="ctr">
              <a:buNone/>
            </a:pPr>
            <a:r>
              <a:rPr lang="ko-KR" sz="1300" dirty="0">
                <a:solidFill>
                  <a:srgbClr val="3A5080"/>
                </a:solidFill>
              </a:rPr>
              <a:t>AI가 순서 문서화</a:t>
            </a:r>
          </a:p>
        </p:txBody>
      </p:sp>
      <p:sp>
        <p:nvSpPr>
          <p:cNvPr id="75" name="DArr75"/>
          <p:cNvSpPr/>
          <p:nvPr/>
        </p:nvSpPr>
        <p:spPr>
          <a:xfrm>
            <a:off x="4343400" y="2895600"/>
            <a:ext cx="304800" cy="304800"/>
          </a:xfrm>
          <a:prstGeom prst="downArrow">
            <a:avLst/>
          </a:prstGeom>
          <a:solidFill>
            <a:srgbClr val="2E6DA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6" name="Pill76"/>
          <p:cNvSpPr/>
          <p:nvPr/>
        </p:nvSpPr>
        <p:spPr>
          <a:xfrm>
            <a:off x="1219200" y="3276600"/>
            <a:ext cx="2895600" cy="1600000"/>
          </a:xfrm>
          <a:prstGeom prst="roundRect">
            <a:avLst>
              <a:gd name="adj" fmla="val 30000"/>
            </a:avLst>
          </a:prstGeom>
          <a:solidFill>
            <a:srgbClr val="EEF4FF"/>
          </a:solidFill>
          <a:ln w="25400">
            <a:solidFill>
              <a:srgbClr val="2E6DAF"/>
            </a:solidFill>
          </a:ln>
        </p:spPr>
        <p:txBody>
          <a:bodyPr wrap="square" lIns="182880" tIns="182880" rIns="182880" bIns="182880" anchor="ctr"/>
          <a:lstStyle/>
          <a:p>
            <a:pPr algn="ctr">
              <a:buNone/>
            </a:pPr>
            <a:r>
              <a:rPr lang="ko-KR" sz="2000" dirty="0"/>
              <a:t>💾</a:t>
            </a:r>
          </a:p>
          <a:p>
            <a:pPr algn="ctr">
              <a:buNone/>
            </a:pPr>
            <a:r>
              <a:rPr lang="ko-KR" sz="1500" b="1" dirty="0">
                <a:solidFill>
                  <a:srgbClr val="1B2A4A"/>
                </a:solidFill>
              </a:rPr>
              <a:t>워크플로우 저장</a:t>
            </a:r>
          </a:p>
          <a:p>
            <a:pPr algn="ctr">
              <a:buNone/>
            </a:pPr>
            <a:r>
              <a:rPr lang="ko-KR" sz="1300" dirty="0">
                <a:solidFill>
                  <a:srgbClr val="3A5080"/>
                </a:solidFill>
              </a:rPr>
              <a:t>/morning_briefing</a:t>
            </a:r>
          </a:p>
        </p:txBody>
      </p:sp>
      <p:sp>
        <p:nvSpPr>
          <p:cNvPr id="77" name="RArr77"/>
          <p:cNvSpPr/>
          <p:nvPr/>
        </p:nvSpPr>
        <p:spPr>
          <a:xfrm>
            <a:off x="4190400" y="3924000"/>
            <a:ext cx="304800" cy="304800"/>
          </a:xfrm>
          <a:prstGeom prst="rightArrow">
            <a:avLst/>
          </a:prstGeom>
          <a:solidFill>
            <a:srgbClr val="48A9A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8" name="Pill78"/>
          <p:cNvSpPr/>
          <p:nvPr/>
        </p:nvSpPr>
        <p:spPr>
          <a:xfrm>
            <a:off x="4572000" y="3276600"/>
            <a:ext cx="3962400" cy="1600000"/>
          </a:xfrm>
          <a:prstGeom prst="roundRect">
            <a:avLst>
              <a:gd name="adj" fmla="val 30000"/>
            </a:avLst>
          </a:prstGeom>
          <a:solidFill>
            <a:srgbClr val="E8FFE8"/>
          </a:solidFill>
          <a:ln w="25400">
            <a:solidFill>
              <a:srgbClr val="7CB342"/>
            </a:solidFill>
          </a:ln>
        </p:spPr>
        <p:txBody>
          <a:bodyPr wrap="square" lIns="182880" tIns="182880" rIns="182880" bIns="182880" anchor="ctr"/>
          <a:lstStyle/>
          <a:p>
            <a:pPr algn="ctr">
              <a:buNone/>
            </a:pPr>
            <a:r>
              <a:rPr lang="ko-KR" sz="2000" dirty="0"/>
              <a:t>🚀</a:t>
            </a:r>
          </a:p>
          <a:p>
            <a:pPr algn="ctr">
              <a:buNone/>
            </a:pPr>
            <a:r>
              <a:rPr lang="ko-KR" sz="1500" b="1" dirty="0">
                <a:solidFill>
                  <a:srgbClr val="1B2A4A"/>
                </a:solidFill>
              </a:rPr>
              <a:t>버튼 하나로 실행!</a:t>
            </a:r>
          </a:p>
          <a:p>
            <a:pPr algn="ctr">
              <a:buNone/>
            </a:pPr>
            <a:r>
              <a:rPr lang="ko-KR" sz="1300" dirty="0">
                <a:solidFill>
                  <a:srgbClr val="3A5080"/>
                </a:solidFill>
              </a:rPr>
              <a:t>매일 아침 자동 처리 완료</a:t>
            </a:r>
          </a:p>
        </p:txBody>
      </p:sp>
      <p:sp>
        <p:nvSpPr>
          <p:cNvPr id="79" name="BottomLbl"/>
          <p:cNvSpPr/>
          <p:nvPr/>
        </p:nvSpPr>
        <p:spPr>
          <a:xfrm>
            <a:off x="304800" y="5105400"/>
            <a:ext cx="8534400" cy="457200"/>
          </a:xfrm>
          <a:prstGeom prst="rect">
            <a:avLst/>
          </a:prstGeom>
          <a:noFill/>
        </p:spPr>
        <p:txBody>
          <a:bodyPr wrap="square" lIns="114300" tIns="91440" rIns="114300" bIns="91440" anchor="ctr"/>
          <a:lstStyle/>
          <a:p>
            <a:pPr algn="ctr">
              <a:buNone/>
            </a:pPr>
            <a:r>
              <a:rPr lang="ko-KR" sz="1500" b="1" dirty="0">
                <a:solidFill>
                  <a:srgbClr val="E8833A"/>
                </a:solidFill>
              </a:rPr>
              <a:t>★  스킬(Skill) 추가 시 메신저 알림, 웹 검색, 파일 처리까지 확장 가능!</a:t>
            </a:r>
          </a:p>
        </p:txBody>
      </p:sp>
    </p:spTree>
    <p:extLst>
      <p:ext uri="{BB962C8B-B14F-4D97-AF65-F5344CB8AC3E}">
        <p14:creationId xmlns:p14="http://schemas.microsoft.com/office/powerpoint/2010/main" val="1265704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C0CC52-D28F-84C5-1842-9DC2AE637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254000"/>
            <a:ext cx="9906000" cy="1270000"/>
          </a:xfrm>
        </p:spPr>
        <p:txBody>
          <a:bodyPr/>
          <a:lstStyle/>
          <a:p>
            <a:pPr>
              <a:buNone/>
            </a:pPr>
            <a:r>
              <a:rPr lang="ko-KR" sz="3000" b="1" dirty="0"/>
              <a:t>이 세 가지만 기억하세요!</a:t>
            </a:r>
          </a:p>
        </p:txBody>
      </p:sp>
      <p:pic>
        <p:nvPicPr>
          <p:cNvPr id="4" name="Graphic 4" descr="Stars on summary slid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76000" y="355600"/>
            <a:ext cx="609600" cy="609600"/>
          </a:xfrm>
          <a:prstGeom prst="rect">
            <a:avLst/>
          </a:prstGeom>
        </p:spPr>
      </p:pic>
      <p:sp>
        <p:nvSpPr>
          <p:cNvPr id="60" name="KC1"/>
          <p:cNvSpPr/>
          <p:nvPr/>
        </p:nvSpPr>
        <p:spPr>
          <a:xfrm>
            <a:off x="558800" y="1206500"/>
            <a:ext cx="2667000" cy="5397500"/>
          </a:xfrm>
          <a:prstGeom prst="roundRect">
            <a:avLst>
              <a:gd name="adj" fmla="val 20000"/>
            </a:avLst>
          </a:prstGeom>
          <a:solidFill>
            <a:srgbClr val="EEF4FF"/>
          </a:solidFill>
          <a:ln w="38100">
            <a:solidFill>
              <a:srgbClr val="2E6DAF"/>
            </a:solidFill>
          </a:ln>
        </p:spPr>
        <p:txBody>
          <a:bodyPr wrap="square" lIns="228600" tIns="304800" rIns="228600" bIns="228600" anchor="t"/>
          <a:lstStyle/>
          <a:p>
            <a:pPr algn="ctr">
              <a:buNone/>
            </a:pPr>
            <a:r>
              <a:rPr lang="ko-KR" sz="1800" dirty="0"/>
              <a:t>📋</a:t>
            </a:r>
          </a:p>
          <a:p>
            <a:pPr algn="ctr">
              <a:buNone/>
            </a:pPr>
            <a:r>
              <a:rPr lang="ko-KR" sz="5600" b="1" dirty="0">
                <a:solidFill>
                  <a:srgbClr val="2E6DAF"/>
                </a:solidFill>
              </a:rPr>
              <a:t>1</a:t>
            </a:r>
          </a:p>
          <a:p>
            <a:pPr algn="ctr">
              <a:buNone/>
            </a:pPr>
            <a:r>
              <a:rPr lang="ko-KR" sz="2200" b="1" dirty="0">
                <a:solidFill>
                  <a:srgbClr val="1B2A4A"/>
                </a:solidFill>
              </a:rPr>
              <a:t>모르면 복붙!</a:t>
            </a:r>
          </a:p>
          <a:p>
            <a:pPr algn="ctr">
              <a:buNone/>
            </a:pPr>
            <a:r>
              <a:rPr lang="ko-KR" sz="1400" dirty="0">
                <a:solidFill>
                  <a:srgbClr val="3A5080"/>
                </a:solidFill>
              </a:rPr>
              <a:t>Global Instruction에</a:t>
            </a:r>
          </a:p>
          <a:p>
            <a:pPr algn="ctr">
              <a:buNone/>
            </a:pPr>
            <a:r>
              <a:rPr lang="ko-KR" sz="1400" dirty="0">
                <a:solidFill>
                  <a:srgbClr val="3A5080"/>
                </a:solidFill>
              </a:rPr>
              <a:t>텍스트 복사·붙여넣기</a:t>
            </a:r>
          </a:p>
        </p:txBody>
      </p:sp>
      <p:sp>
        <p:nvSpPr>
          <p:cNvPr id="61" name="KC2"/>
          <p:cNvSpPr/>
          <p:nvPr/>
        </p:nvSpPr>
        <p:spPr>
          <a:xfrm>
            <a:off x="3492500" y="1206500"/>
            <a:ext cx="2667000" cy="5397500"/>
          </a:xfrm>
          <a:prstGeom prst="roundRect">
            <a:avLst>
              <a:gd name="adj" fmla="val 20000"/>
            </a:avLst>
          </a:prstGeom>
          <a:solidFill>
            <a:srgbClr val="E8F8F7"/>
          </a:solidFill>
          <a:ln w="38100">
            <a:solidFill>
              <a:srgbClr val="48A9A6"/>
            </a:solidFill>
          </a:ln>
        </p:spPr>
        <p:txBody>
          <a:bodyPr wrap="square" lIns="228600" tIns="304800" rIns="228600" bIns="228600" anchor="t"/>
          <a:lstStyle/>
          <a:p>
            <a:pPr algn="ctr">
              <a:buNone/>
            </a:pPr>
            <a:r>
              <a:rPr lang="ko-KR" sz="1800" dirty="0"/>
              <a:t>🖱</a:t>
            </a:r>
          </a:p>
          <a:p>
            <a:pPr algn="ctr">
              <a:buNone/>
            </a:pPr>
            <a:r>
              <a:rPr lang="ko-KR" sz="5600" b="1" dirty="0">
                <a:solidFill>
                  <a:srgbClr val="48A9A6"/>
                </a:solidFill>
              </a:rPr>
              <a:t>2</a:t>
            </a:r>
          </a:p>
          <a:p>
            <a:pPr algn="ctr">
              <a:buNone/>
            </a:pPr>
            <a:r>
              <a:rPr lang="ko-KR" sz="2200" b="1" dirty="0">
                <a:solidFill>
                  <a:srgbClr val="1B2A4A"/>
                </a:solidFill>
              </a:rPr>
              <a:t>관리자 우클릭!</a:t>
            </a:r>
          </a:p>
          <a:p>
            <a:pPr algn="ctr">
              <a:buNone/>
            </a:pPr>
            <a:r>
              <a:rPr lang="ko-KR" sz="1400" dirty="0">
                <a:solidFill>
                  <a:srgbClr val="3A5080"/>
                </a:solidFill>
              </a:rPr>
              <a:t>실행 및 PowerShell</a:t>
            </a:r>
          </a:p>
          <a:p>
            <a:pPr algn="ctr">
              <a:buNone/>
            </a:pPr>
            <a:r>
              <a:rPr lang="ko-KR" sz="1400" dirty="0">
                <a:solidFill>
                  <a:srgbClr val="3A5080"/>
                </a:solidFill>
              </a:rPr>
              <a:t>관리자 권한으로 실행</a:t>
            </a:r>
          </a:p>
        </p:txBody>
      </p:sp>
      <p:sp>
        <p:nvSpPr>
          <p:cNvPr id="62" name="KC3"/>
          <p:cNvSpPr/>
          <p:nvPr/>
        </p:nvSpPr>
        <p:spPr>
          <a:xfrm>
            <a:off x="6426200" y="1206500"/>
            <a:ext cx="2667000" cy="5397500"/>
          </a:xfrm>
          <a:prstGeom prst="roundRect">
            <a:avLst>
              <a:gd name="adj" fmla="val 20000"/>
            </a:avLst>
          </a:prstGeom>
          <a:solidFill>
            <a:srgbClr val="FFF5EE"/>
          </a:solidFill>
          <a:ln w="38100">
            <a:solidFill>
              <a:srgbClr val="E8833A"/>
            </a:solidFill>
          </a:ln>
        </p:spPr>
        <p:txBody>
          <a:bodyPr wrap="square" lIns="228600" tIns="304800" rIns="228600" bIns="228600" anchor="t"/>
          <a:lstStyle/>
          <a:p>
            <a:pPr algn="ctr">
              <a:buNone/>
            </a:pPr>
            <a:r>
              <a:rPr lang="ko-KR" sz="1800" dirty="0"/>
              <a:t>💬</a:t>
            </a:r>
          </a:p>
          <a:p>
            <a:pPr algn="ctr">
              <a:buNone/>
            </a:pPr>
            <a:r>
              <a:rPr lang="ko-KR" sz="5600" b="1" dirty="0">
                <a:solidFill>
                  <a:srgbClr val="E8833A"/>
                </a:solidFill>
              </a:rPr>
              <a:t>3</a:t>
            </a:r>
          </a:p>
          <a:p>
            <a:pPr algn="ctr">
              <a:buNone/>
            </a:pPr>
            <a:r>
              <a:rPr lang="ko-KR" sz="2200" b="1" dirty="0">
                <a:solidFill>
                  <a:srgbClr val="1B2A4A"/>
                </a:solidFill>
              </a:rPr>
              <a:t>어려우면 말로!</a:t>
            </a:r>
          </a:p>
          <a:p>
            <a:pPr algn="ctr">
              <a:buNone/>
            </a:pPr>
            <a:r>
              <a:rPr lang="ko-KR" sz="1400" i="1" dirty="0">
                <a:solidFill>
                  <a:srgbClr val="3A5080"/>
                </a:solidFill>
              </a:rPr>
              <a:t>"알아서 설치해줘"</a:t>
            </a:r>
          </a:p>
          <a:p>
            <a:pPr algn="ctr">
              <a:buNone/>
            </a:pPr>
            <a:r>
              <a:rPr lang="ko-KR" sz="1400" i="1" dirty="0">
                <a:solidFill>
                  <a:srgbClr val="3A5080"/>
                </a:solidFill>
              </a:rPr>
              <a:t>"워크플로우 만들어줘"</a:t>
            </a:r>
          </a:p>
        </p:txBody>
      </p:sp>
    </p:spTree>
    <p:extLst>
      <p:ext uri="{BB962C8B-B14F-4D97-AF65-F5344CB8AC3E}">
        <p14:creationId xmlns:p14="http://schemas.microsoft.com/office/powerpoint/2010/main" val="230028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D4135D-B2D8-0DA4-D439-1247B4BB6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254000"/>
            <a:ext cx="9906000" cy="1270000"/>
          </a:xfrm>
        </p:spPr>
        <p:txBody>
          <a:bodyPr/>
          <a:lstStyle/>
          <a:p>
            <a:pPr algn="ctr">
              <a:buNone/>
            </a:pPr>
            <a:r>
              <a:rPr lang="ko-KR" sz="3200" b="1" dirty="0"/>
              <a:t>Q&amp;A 및 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AC1777-D7B4-CD42-03F2-F35AF6E59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1651000"/>
            <a:ext cx="10160000" cy="4445000"/>
          </a:xfrm>
        </p:spPr>
        <p:txBody>
          <a:bodyPr/>
          <a:lstStyle/>
          <a:p>
            <a:pPr algn="ctr">
              <a:buNone/>
            </a:pPr>
            <a:r>
              <a:rPr lang="ko-KR" sz="1900" dirty="0"/>
              <a:t>자, 이제 여러분의 데스크탑에 우주 최고 비서를 고용할 시간입니다!</a:t>
            </a:r>
          </a:p>
          <a:p>
            <a:pPr algn="ctr">
              <a:buNone/>
            </a:pPr>
            <a:r>
              <a:rPr lang="ko-KR" sz="1400" dirty="0"/>
              <a:t> </a:t>
            </a:r>
          </a:p>
          <a:p>
            <a:pPr algn="ctr">
              <a:buNone/>
            </a:pPr>
            <a:r>
              <a:rPr lang="ko-KR" sz="3600" b="1" dirty="0"/>
              <a:t>감사합니다 🙏</a:t>
            </a:r>
          </a:p>
          <a:p>
            <a:pPr algn="ctr">
              <a:buNone/>
            </a:pPr>
            <a:r>
              <a:rPr lang="ko-KR" sz="1400" dirty="0"/>
              <a:t> </a:t>
            </a:r>
          </a:p>
          <a:p>
            <a:pPr algn="ctr">
              <a:buNone/>
            </a:pPr>
            <a:r>
              <a:rPr lang="ko-KR" sz="1600" dirty="0"/>
              <a:t>남양주백병원 AI비서 NDB 활용 교육</a:t>
            </a:r>
          </a:p>
        </p:txBody>
      </p:sp>
      <p:pic>
        <p:nvPicPr>
          <p:cNvPr id="4" name="Graphic 4" descr="Chat icon on closing slid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76000" y="3556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091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NDB Hospital">
      <a:dk1>
        <a:srgbClr val="1B2A4A"/>
      </a:dk1>
      <a:lt1>
        <a:srgbClr val="FFFFFF"/>
      </a:lt1>
      <a:dk2>
        <a:srgbClr val="2C3E6B"/>
      </a:dk2>
      <a:lt2>
        <a:srgbClr val="EDF2F9"/>
      </a:lt2>
      <a:accent1>
        <a:srgbClr val="2E6DAF"/>
      </a:accent1>
      <a:accent2>
        <a:srgbClr val="48A9A6"/>
      </a:accent2>
      <a:accent3>
        <a:srgbClr val="5B8BD4"/>
      </a:accent3>
      <a:accent4>
        <a:srgbClr val="E8833A"/>
      </a:accent4>
      <a:accent5>
        <a:srgbClr val="7CB342"/>
      </a:accent5>
      <a:accent6>
        <a:srgbClr val="8E6BB0"/>
      </a:accent6>
      <a:hlink>
        <a:srgbClr val="467886"/>
      </a:hlink>
      <a:folHlink>
        <a:srgbClr val="96607D"/>
      </a:folHlink>
    </a:clrScheme>
    <a:fontScheme name="NDB Fonts">
      <a:majorFont>
        <a:latin typeface="Pretendard" panose="02110004020202020204"/>
        <a:ea typeface="Pretendard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110004020202020204"/>
        <a:ea typeface="Pretendard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C3E8E19-9129-42E2-82E9-06AC918C483C}">
  <we:reference id="wa200010001" version="1.0.0.0" store="ko-KR" storeType="OMEX"/>
  <we:alternateReferences>
    <we:reference id="wa200010001" version="1.0.0.0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642</Words>
  <Application>Microsoft Office PowerPoint</Application>
  <PresentationFormat>와이드스크린</PresentationFormat>
  <Paragraphs>143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Pretendard</vt:lpstr>
      <vt:lpstr>Arial</vt:lpstr>
      <vt:lpstr>Consolas</vt:lpstr>
      <vt:lpstr>Office 테마</vt:lpstr>
      <vt:lpstr>남양주백병원 AI비서 NDB
활용 교육</vt:lpstr>
      <vt:lpstr>AI 비서, 왜 필요한가요?</vt:lpstr>
      <vt:lpstr>Step 0. 딱 3번만 클릭하세요!</vt:lpstr>
      <vt:lpstr>Step 1. '관리자 권한' 열기</vt:lpstr>
      <vt:lpstr>Step 2. AI에게 "병원 비서" 성격 부여하기</vt:lpstr>
      <vt:lpstr>Step 3. 도구 설치? AI한테 말로 시키세요!</vt:lpstr>
      <vt:lpstr>Step 4. 내 일정과 메일을 비서에게 맡기기</vt:lpstr>
      <vt:lpstr>Step 5. 루틴 업무를 버튼 하나로 끝장내기!</vt:lpstr>
      <vt:lpstr>이 세 가지만 기억하세요!</vt:lpstr>
      <vt:lpstr>Q&amp;A 및 실습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 jong choi</dc:creator>
  <cp:lastModifiedBy>sun jong choi</cp:lastModifiedBy>
  <cp:revision>1</cp:revision>
  <dcterms:created xsi:type="dcterms:W3CDTF">2026-03-10T14:26:03Z</dcterms:created>
  <dcterms:modified xsi:type="dcterms:W3CDTF">2026-03-10T14:55:10Z</dcterms:modified>
</cp:coreProperties>
</file>